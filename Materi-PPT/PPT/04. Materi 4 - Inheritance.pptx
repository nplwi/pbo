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59"/>
  </p:notesMasterIdLst>
  <p:sldIdLst>
    <p:sldId id="256" r:id="rId2"/>
    <p:sldId id="319" r:id="rId3"/>
    <p:sldId id="314" r:id="rId4"/>
    <p:sldId id="315" r:id="rId5"/>
    <p:sldId id="411" r:id="rId6"/>
    <p:sldId id="412" r:id="rId7"/>
    <p:sldId id="425" r:id="rId8"/>
    <p:sldId id="426" r:id="rId9"/>
    <p:sldId id="423" r:id="rId10"/>
    <p:sldId id="414" r:id="rId11"/>
    <p:sldId id="416" r:id="rId12"/>
    <p:sldId id="415" r:id="rId13"/>
    <p:sldId id="364" r:id="rId14"/>
    <p:sldId id="464" r:id="rId15"/>
    <p:sldId id="438" r:id="rId16"/>
    <p:sldId id="417" r:id="rId17"/>
    <p:sldId id="465" r:id="rId18"/>
    <p:sldId id="427" r:id="rId19"/>
    <p:sldId id="418" r:id="rId20"/>
    <p:sldId id="419" r:id="rId21"/>
    <p:sldId id="428" r:id="rId22"/>
    <p:sldId id="420" r:id="rId23"/>
    <p:sldId id="421" r:id="rId24"/>
    <p:sldId id="461" r:id="rId25"/>
    <p:sldId id="439" r:id="rId26"/>
    <p:sldId id="422" r:id="rId27"/>
    <p:sldId id="429" r:id="rId28"/>
    <p:sldId id="451" r:id="rId29"/>
    <p:sldId id="462" r:id="rId30"/>
    <p:sldId id="463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452" r:id="rId39"/>
    <p:sldId id="453" r:id="rId40"/>
    <p:sldId id="456" r:id="rId41"/>
    <p:sldId id="455" r:id="rId42"/>
    <p:sldId id="454" r:id="rId43"/>
    <p:sldId id="458" r:id="rId44"/>
    <p:sldId id="457" r:id="rId45"/>
    <p:sldId id="459" r:id="rId46"/>
    <p:sldId id="460" r:id="rId47"/>
    <p:sldId id="437" r:id="rId48"/>
    <p:sldId id="440" r:id="rId49"/>
    <p:sldId id="441" r:id="rId50"/>
    <p:sldId id="446" r:id="rId51"/>
    <p:sldId id="443" r:id="rId52"/>
    <p:sldId id="444" r:id="rId53"/>
    <p:sldId id="445" r:id="rId54"/>
    <p:sldId id="447" r:id="rId55"/>
    <p:sldId id="450" r:id="rId56"/>
    <p:sldId id="409" r:id="rId57"/>
    <p:sldId id="290" r:id="rId5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Poppins" panose="00000500000000000000" pitchFamily="2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E60A72-F223-40E5-91F7-218DE427BF10}">
  <a:tblStyle styleId="{4FE60A72-F223-40E5-91F7-218DE427BF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6321BB-830E-4A7B-A6BF-7D3C5B3288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61" autoAdjust="0"/>
  </p:normalViewPr>
  <p:slideViewPr>
    <p:cSldViewPr snapToGrid="0">
      <p:cViewPr varScale="1">
        <p:scale>
          <a:sx n="91" d="100"/>
          <a:sy n="91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29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095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753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390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488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52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368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241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280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895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070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983A0513-63B6-CB10-D9F5-C7414794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374C65F9-4BF5-16EB-6095-1692EA6BF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CC80E0FA-A154-FC79-CB77-ED1854A3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042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331C4CDC-5AC2-2E1D-A24A-5CD966F6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801C3BD9-49C0-0028-1F00-E067889B7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28653468-40D6-F015-3725-CC61D1623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49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11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307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0B659EA3-BC06-2FD6-A471-057F0581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990F9A2C-FBE6-B459-587E-671131F39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1C4266A7-5D91-5491-4CA9-EE5E901D59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654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370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803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864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30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759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9157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8DEA899-584A-BC9E-940A-57318E6C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E001DF3A-F2D6-AF82-3443-BD32946D6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D9BABE8B-E070-133C-8A03-12A80D2F8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215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3063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47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277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7ACE51F-5D5C-BC72-B6E1-6EAB83A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ECB36F8-4F93-E2B8-24C4-8B8459EBF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A458BDF-8113-6AD0-9BA4-98A1D7DDF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5345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BA23E3B5-967E-4391-22E6-4FFA1480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D40ACF25-39E9-126B-5D86-DDD207C23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7463E902-1DBF-1D65-8271-8F18F6AF7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5264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24B05AE3-CB6C-B5A5-1585-2E3EB1D47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C1AFB96F-FA37-DB8C-14BB-5B81EEDBA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24F1047-B1CA-D5F4-557F-00F937337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388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9530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531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1111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122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5281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08760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2144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2838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451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0078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8589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1478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9649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9906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7905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048DEF39-7A3D-BCE0-4A60-2941B6E0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E5D5091B-0EE3-D0DD-6346-08BE02DDA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57F62D38-0189-6EDA-B84E-836B2EFF5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3092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0687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1936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4768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9207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247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6050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90920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780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0854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7288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4923497" y="281246"/>
            <a:ext cx="234196" cy="188409"/>
            <a:chOff x="3889166" y="1636096"/>
            <a:chExt cx="98179" cy="78984"/>
          </a:xfrm>
        </p:grpSpPr>
        <p:sp>
          <p:nvSpPr>
            <p:cNvPr id="18" name="Google Shape;18;p3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21" name="Google Shape;21;p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77" r:id="rId5"/>
    <p:sldLayoutId id="2147483678" r:id="rId6"/>
    <p:sldLayoutId id="214748367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664503" y="2254781"/>
            <a:ext cx="4100400" cy="8308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Inheritance</a:t>
            </a:r>
            <a:endParaRPr sz="2800" b="0" dirty="0"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 Pengampu Pemrograman Berorientasi Objek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Departemen Informatika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Universitas Diponegoro </a:t>
            </a:r>
            <a:endParaRPr dirty="0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94971"/>
            <a:ext cx="3798092" cy="3419445"/>
            <a:chOff x="4899397" y="821996"/>
            <a:chExt cx="4028951" cy="3627289"/>
          </a:xfrm>
        </p:grpSpPr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923AEF-75DF-B23C-8E5F-7D33FB01F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726" y="381017"/>
            <a:ext cx="801462" cy="93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6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Konsep Inheritance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Keyword “super”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Overriding Method</a:t>
            </a:r>
            <a:endParaRPr lang="en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Spesialisasi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Generalisasi</a:t>
            </a:r>
            <a:endParaRPr lang="en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Jenis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Inheritance</a:t>
            </a: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426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25088" y="2636965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Konsep Inheritance</a:t>
            </a:r>
            <a:endParaRPr sz="44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01</a:t>
            </a:r>
            <a:endParaRPr sz="4800"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058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Inheritance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relasi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IS-A.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FF0000"/>
                </a:solidFill>
                <a:latin typeface="Lato"/>
                <a:ea typeface="Lato"/>
                <a:cs typeface="Lato"/>
              </a:rPr>
              <a:t>Subclass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dan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oleh </a:t>
            </a:r>
            <a:r>
              <a:rPr lang="en-US" sz="18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superclass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Superclass  generalized class/ parent class/ base 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Subclass  specialized class/ child class/ extended class/ derived class.</a:t>
            </a:r>
          </a:p>
          <a:p>
            <a:pPr marL="446087"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spcBef>
                <a:spcPts val="0"/>
              </a:spcBef>
              <a:spcAft>
                <a:spcPts val="600"/>
              </a:spcAft>
            </a:pPr>
            <a:endParaRPr lang="e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274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49028C-771A-1AAE-C32F-27F2269C9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16446"/>
              </p:ext>
            </p:extLst>
          </p:nvPr>
        </p:nvGraphicFramePr>
        <p:xfrm>
          <a:off x="663717" y="640080"/>
          <a:ext cx="2374892" cy="3131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4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BujurSangkar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sisi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warna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border: String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getSisi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setSisi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(s: real)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(w: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(b: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ECC429-6F02-8EF0-7905-C6AF26A54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14076"/>
              </p:ext>
            </p:extLst>
          </p:nvPr>
        </p:nvGraphicFramePr>
        <p:xfrm>
          <a:off x="3340746" y="640080"/>
          <a:ext cx="2374892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4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panjang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lebar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warna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border: String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(p: real)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(l: real)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(w: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(b: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79670-3EFA-4A5E-5C7A-45FC555F5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376150"/>
              </p:ext>
            </p:extLst>
          </p:nvPr>
        </p:nvGraphicFramePr>
        <p:xfrm>
          <a:off x="6017775" y="614454"/>
          <a:ext cx="2374892" cy="3131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4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Lingkaran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radius: real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warna</a:t>
                      </a: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6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border: String</a:t>
                      </a: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getRadius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setRadius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(s: real)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setWarna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(w: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setBorder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(b: String)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97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49028C-771A-1AAE-C32F-27F2269C9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858980"/>
              </p:ext>
            </p:extLst>
          </p:nvPr>
        </p:nvGraphicFramePr>
        <p:xfrm>
          <a:off x="1587765" y="2758312"/>
          <a:ext cx="1874878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BujurSangkar</a:t>
                      </a:r>
                      <a:endParaRPr lang="en-US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sisi</a:t>
                      </a: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double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getSisi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setSisi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(s: real)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ECC429-6F02-8EF0-7905-C6AF26A54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23840"/>
              </p:ext>
            </p:extLst>
          </p:nvPr>
        </p:nvGraphicFramePr>
        <p:xfrm>
          <a:off x="3575538" y="2758312"/>
          <a:ext cx="1957754" cy="2125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endParaRPr lang="en-US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panjang</a:t>
                      </a: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lebar</a:t>
                      </a: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getPanjang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setPanjang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(p: real)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getLebar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setLebar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(l: real)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79670-3EFA-4A5E-5C7A-45FC555F5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81740"/>
              </p:ext>
            </p:extLst>
          </p:nvPr>
        </p:nvGraphicFramePr>
        <p:xfrm>
          <a:off x="5646187" y="2758312"/>
          <a:ext cx="1957754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Lingkaran</a:t>
                      </a:r>
                      <a:endParaRPr lang="en-US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radius: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getRadius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setRadius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(s: real)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8D4D33-3B06-91F2-057B-0FD82C2B2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31889"/>
              </p:ext>
            </p:extLst>
          </p:nvPr>
        </p:nvGraphicFramePr>
        <p:xfrm>
          <a:off x="2579078" y="352400"/>
          <a:ext cx="3669322" cy="1699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9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BangunDatar</a:t>
                      </a:r>
                      <a:endParaRPr lang="en-US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warna</a:t>
                      </a: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93663" indent="-93663" algn="l">
                        <a:buFontTx/>
                        <a:buChar char="-"/>
                      </a:pPr>
                      <a:r>
                        <a:rPr lang="en-US" sz="1400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border: String</a:t>
                      </a:r>
                      <a:endParaRPr lang="en-US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getWarna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setWarna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(w: String)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getBorder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pPr algn="l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setBorder</a:t>
                      </a:r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(b: String)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05FFCC-DA17-70C2-8AA1-47E5E3F178A9}"/>
              </a:ext>
            </a:extLst>
          </p:cNvPr>
          <p:cNvCxnSpPr/>
          <p:nvPr/>
        </p:nvCxnSpPr>
        <p:spPr>
          <a:xfrm flipV="1">
            <a:off x="2579078" y="2051660"/>
            <a:ext cx="703384" cy="7066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CEF405-E518-DD37-4C00-2E8EC82369C3}"/>
              </a:ext>
            </a:extLst>
          </p:cNvPr>
          <p:cNvCxnSpPr>
            <a:cxnSpLocks/>
          </p:cNvCxnSpPr>
          <p:nvPr/>
        </p:nvCxnSpPr>
        <p:spPr>
          <a:xfrm flipV="1">
            <a:off x="4448908" y="2051660"/>
            <a:ext cx="0" cy="7066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95B1A91-5CC2-2BA6-2F91-7A1A733F4BA2}"/>
              </a:ext>
            </a:extLst>
          </p:cNvPr>
          <p:cNvCxnSpPr/>
          <p:nvPr/>
        </p:nvCxnSpPr>
        <p:spPr>
          <a:xfrm>
            <a:off x="5646187" y="2051660"/>
            <a:ext cx="520151" cy="7066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181CC40-4E7A-B7C3-0B2C-235101411D6F}"/>
              </a:ext>
            </a:extLst>
          </p:cNvPr>
          <p:cNvSpPr/>
          <p:nvPr/>
        </p:nvSpPr>
        <p:spPr>
          <a:xfrm rot="2935215">
            <a:off x="3154421" y="2039937"/>
            <a:ext cx="152400" cy="187448"/>
          </a:xfrm>
          <a:prstGeom prst="triangl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4EECF3F-A761-C0CC-0C99-5AD965E4AA0F}"/>
              </a:ext>
            </a:extLst>
          </p:cNvPr>
          <p:cNvSpPr/>
          <p:nvPr/>
        </p:nvSpPr>
        <p:spPr>
          <a:xfrm>
            <a:off x="4366118" y="2051660"/>
            <a:ext cx="182436" cy="201028"/>
          </a:xfrm>
          <a:prstGeom prst="triangl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249C994C-C40B-F024-F794-DE19A7E9A9FA}"/>
              </a:ext>
            </a:extLst>
          </p:cNvPr>
          <p:cNvSpPr/>
          <p:nvPr/>
        </p:nvSpPr>
        <p:spPr>
          <a:xfrm rot="19571136">
            <a:off x="5627076" y="2039937"/>
            <a:ext cx="177371" cy="201028"/>
          </a:xfrm>
          <a:prstGeom prst="triangl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163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363706-9B78-6B21-BD49-14EF121508F2}"/>
              </a:ext>
            </a:extLst>
          </p:cNvPr>
          <p:cNvSpPr txBox="1"/>
          <p:nvPr/>
        </p:nvSpPr>
        <p:spPr>
          <a:xfrm>
            <a:off x="1064310" y="282483"/>
            <a:ext cx="618054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atribut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private String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private String border;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//constructor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w, String b){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w;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border = b;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//method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setWarna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w){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w;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String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getWarna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setBorder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b){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border = b;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58767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363706-9B78-6B21-BD49-14EF121508F2}"/>
              </a:ext>
            </a:extLst>
          </p:cNvPr>
          <p:cNvSpPr txBox="1"/>
          <p:nvPr/>
        </p:nvSpPr>
        <p:spPr>
          <a:xfrm>
            <a:off x="1064310" y="282483"/>
            <a:ext cx="618054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BujurSangkar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atribut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private double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//constructor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BujurSangkar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BujurSangkar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(double s){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s;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BujurSangkar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(double s, String w, String b){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s;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setWarna</a:t>
            </a:r>
            <a:r>
              <a:rPr lang="en-US" sz="1100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(w);</a:t>
            </a:r>
          </a:p>
          <a:p>
            <a:r>
              <a:rPr lang="en-US" sz="1100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setBorder</a:t>
            </a:r>
            <a:r>
              <a:rPr lang="en-US" sz="1100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(b);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//method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public void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setSisi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(double s){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s;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double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getSisi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sisi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118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Manfaat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inheritance  reusability,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menghindari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/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meminimalkan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redundancy.</a:t>
            </a:r>
          </a:p>
          <a:p>
            <a:pPr marL="809625" indent="-3635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Sejumlah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dan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hampir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digeneralisasi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menjadi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superclass. </a:t>
            </a:r>
          </a:p>
          <a:p>
            <a:pPr marL="809625" indent="-3635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“accessible”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dan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memodifikasi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tanpa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mempengaruhi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perilaku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pada superclass  </a:t>
            </a:r>
            <a:r>
              <a:rPr lang="en-US" sz="1800" i="1" dirty="0">
                <a:solidFill>
                  <a:srgbClr val="FF0000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overriding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Memungkinkan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adanya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penambahan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dan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baru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pada subclass.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466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Perlu diperhatikan: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subset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Subclass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umumnya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spesifik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daripada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superclassnya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semua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relasi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IS-A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dimodelkan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sebagai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inheritance.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Inheritance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bukanlah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“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sekedar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“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metode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lain. Subclass dan superclass-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tetap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relasi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IS-A. </a:t>
            </a:r>
          </a:p>
          <a:p>
            <a:pPr marL="715963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Misal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Person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tinggi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class Statue juga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tinggi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namun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jika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didefinisikan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Statue extends Person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karena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Statue is not a Person.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80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Inheritance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7BC75A1-2B16-FFD8-8874-749FDBC65F56}"/>
              </a:ext>
            </a:extLst>
          </p:cNvPr>
          <p:cNvSpPr txBox="1"/>
          <p:nvPr/>
        </p:nvSpPr>
        <p:spPr>
          <a:xfrm>
            <a:off x="879231" y="1730292"/>
            <a:ext cx="15240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PersegiPanjang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EFF9B-75CD-F886-870A-706B68FCE2B4}"/>
              </a:ext>
            </a:extLst>
          </p:cNvPr>
          <p:cNvSpPr txBox="1"/>
          <p:nvPr/>
        </p:nvSpPr>
        <p:spPr>
          <a:xfrm>
            <a:off x="879231" y="3101892"/>
            <a:ext cx="15240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BujurSangkar</a:t>
            </a:r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BACCF4C-D10C-8D79-F249-42F1A36C99F7}"/>
              </a:ext>
            </a:extLst>
          </p:cNvPr>
          <p:cNvSpPr/>
          <p:nvPr/>
        </p:nvSpPr>
        <p:spPr>
          <a:xfrm>
            <a:off x="1488831" y="2111292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FB93B0-7702-E606-7B82-60A4EC2B57C2}"/>
              </a:ext>
            </a:extLst>
          </p:cNvPr>
          <p:cNvCxnSpPr>
            <a:stCxn id="4" idx="3"/>
          </p:cNvCxnSpPr>
          <p:nvPr/>
        </p:nvCxnSpPr>
        <p:spPr>
          <a:xfrm rot="5400000">
            <a:off x="1260231" y="2720892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ABF4CE-E062-8DE1-C062-977EF5884BB4}"/>
              </a:ext>
            </a:extLst>
          </p:cNvPr>
          <p:cNvSpPr txBox="1"/>
          <p:nvPr/>
        </p:nvSpPr>
        <p:spPr>
          <a:xfrm>
            <a:off x="2938217" y="1614551"/>
            <a:ext cx="5782352" cy="2502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Kurang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tepat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jika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kita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menjadikan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BujurSangkar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inherit </a:t>
            </a: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PersegiPanjang</a:t>
            </a:r>
            <a:endParaRPr lang="en-US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10000"/>
              </a:lnSpc>
            </a:pP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PersegiPanjang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panjang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&amp;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lebar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BujurSangkar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Alternatif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BujurSangkar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dan </a:t>
            </a: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PersegiPanjang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inherit </a:t>
            </a: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BangunDatar</a:t>
            </a:r>
            <a:endParaRPr lang="en-US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1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4426431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Tidak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semua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method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subclass.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‘public’ dan ‘protected’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di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‘private’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langsung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pada subclass.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melalui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getter/setter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jika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tersedia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07DF6F-DBA0-1615-051C-2DFA9EC7D59C}"/>
              </a:ext>
            </a:extLst>
          </p:cNvPr>
          <p:cNvSpPr txBox="1"/>
          <p:nvPr/>
        </p:nvSpPr>
        <p:spPr>
          <a:xfrm>
            <a:off x="5289921" y="1547498"/>
            <a:ext cx="350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latin typeface="Courier New" pitchFamily="49" charset="0"/>
                <a:cs typeface="Courier New" pitchFamily="49" charset="0"/>
              </a:rPr>
              <a:t>//c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Buku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Buku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{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public int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jmlHal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judul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protected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penulis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id-ID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id-ID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BukuTulis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BukuTulis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b="1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Buku</a:t>
            </a:r>
            <a:r>
              <a:rPr lang="id-ID" dirty="0">
                <a:latin typeface="Courier New" pitchFamily="49" charset="0"/>
                <a:cs typeface="Courier New" pitchFamily="49" charset="0"/>
              </a:rPr>
              <a:t>{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id-ID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4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98719DFC-2014-CA81-9909-47C84CDA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2BB03307-B825-E7AC-13D4-F1DFF3D15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Access Modifier (in Java)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0990F340-7100-7735-45E1-5E7CE2984500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7F7B26A8-6D20-5CDB-23CA-870C4FEE67D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E4D0EA8-9404-131A-30E6-91BD13B863FE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DDC9EF3A-85B0-77B8-0033-71E7CEB76EAE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F299DAFC-D93E-4AF6-EB29-F384341BBE2B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1F3AFC49-D94D-75FE-1F59-88F12BAD285B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E90FC1-FD41-4D7E-2325-71992E951539}"/>
              </a:ext>
            </a:extLst>
          </p:cNvPr>
          <p:cNvGraphicFramePr>
            <a:graphicFrameLocks noGrp="1"/>
          </p:cNvGraphicFramePr>
          <p:nvPr/>
        </p:nvGraphicFramePr>
        <p:xfrm>
          <a:off x="832337" y="1204553"/>
          <a:ext cx="7491048" cy="335508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60586">
                  <a:extLst>
                    <a:ext uri="{9D8B030D-6E8A-4147-A177-3AD203B41FA5}">
                      <a16:colId xmlns:a16="http://schemas.microsoft.com/office/drawing/2014/main" val="3266842834"/>
                    </a:ext>
                  </a:extLst>
                </a:gridCol>
                <a:gridCol w="1934308">
                  <a:extLst>
                    <a:ext uri="{9D8B030D-6E8A-4147-A177-3AD203B41FA5}">
                      <a16:colId xmlns:a16="http://schemas.microsoft.com/office/drawing/2014/main" val="4096297045"/>
                    </a:ext>
                  </a:extLst>
                </a:gridCol>
                <a:gridCol w="4396154">
                  <a:extLst>
                    <a:ext uri="{9D8B030D-6E8A-4147-A177-3AD203B41FA5}">
                      <a16:colId xmlns:a16="http://schemas.microsoft.com/office/drawing/2014/main" val="1711235236"/>
                    </a:ext>
                  </a:extLst>
                </a:gridCol>
              </a:tblGrid>
              <a:tr h="484105">
                <a:tc>
                  <a:txBody>
                    <a:bodyPr/>
                    <a:lstStyle/>
                    <a:p>
                      <a:r>
                        <a:rPr lang="en-US" dirty="0"/>
                        <a:t>Modifier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dan Interface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dan Variable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191129"/>
                  </a:ext>
                </a:extLst>
              </a:tr>
              <a:tr h="676421"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Tampak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paketnya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diakses</a:t>
                      </a:r>
                      <a:r>
                        <a:rPr lang="en-US" dirty="0"/>
                        <a:t> oleh method di class lain yang </a:t>
                      </a:r>
                      <a:r>
                        <a:rPr lang="en-US" dirty="0" err="1"/>
                        <a:t>sepaket</a:t>
                      </a:r>
                      <a:r>
                        <a:rPr lang="en-US" dirty="0"/>
                        <a:t>. </a:t>
                      </a:r>
                      <a:endParaRPr lang="en-ID" dirty="0"/>
                    </a:p>
                    <a:p>
                      <a:r>
                        <a:rPr lang="en-US" dirty="0" err="1"/>
                        <a:t>Diwarisi</a:t>
                      </a:r>
                      <a:r>
                        <a:rPr lang="en-US" dirty="0"/>
                        <a:t> oleh subclass-</a:t>
                      </a:r>
                      <a:r>
                        <a:rPr lang="en-US" dirty="0" err="1"/>
                        <a:t>nya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paket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sama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class-</a:t>
                      </a:r>
                      <a:r>
                        <a:rPr lang="en-US" dirty="0" err="1"/>
                        <a:t>nya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281295"/>
                  </a:ext>
                </a:extLst>
              </a:tr>
              <a:tr h="676421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Tampak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dimanapun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diakses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dimanapun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 err="1"/>
                        <a:t>Diwarisi</a:t>
                      </a:r>
                      <a:r>
                        <a:rPr lang="en-US" dirty="0"/>
                        <a:t> oleh </a:t>
                      </a:r>
                      <a:r>
                        <a:rPr lang="en-US" dirty="0" err="1"/>
                        <a:t>semua</a:t>
                      </a:r>
                      <a:r>
                        <a:rPr lang="en-US" dirty="0"/>
                        <a:t> subclass-</a:t>
                      </a:r>
                      <a:r>
                        <a:rPr lang="en-US" dirty="0" err="1"/>
                        <a:t>nya</a:t>
                      </a:r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39059"/>
                  </a:ext>
                </a:extLst>
              </a:tr>
              <a:tr h="484105"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diterapkan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diakses</a:t>
                      </a:r>
                      <a:r>
                        <a:rPr lang="en-US" dirty="0"/>
                        <a:t> oleh method di class lain yang </a:t>
                      </a:r>
                      <a:r>
                        <a:rPr lang="en-US" dirty="0" err="1"/>
                        <a:t>sepaket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 err="1"/>
                        <a:t>Diwarisi</a:t>
                      </a:r>
                      <a:r>
                        <a:rPr lang="en-US" dirty="0"/>
                        <a:t> oleh </a:t>
                      </a:r>
                      <a:r>
                        <a:rPr lang="en-US" dirty="0" err="1"/>
                        <a:t>semua</a:t>
                      </a:r>
                      <a:r>
                        <a:rPr lang="en-US" dirty="0"/>
                        <a:t> subclass-</a:t>
                      </a:r>
                      <a:r>
                        <a:rPr lang="en-US" dirty="0" err="1"/>
                        <a:t>nya</a:t>
                      </a:r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87073"/>
                  </a:ext>
                </a:extLst>
              </a:tr>
              <a:tr h="484105"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diterapkan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diakses</a:t>
                      </a:r>
                      <a:r>
                        <a:rPr lang="en-US" dirty="0"/>
                        <a:t> oleh class lain.</a:t>
                      </a:r>
                    </a:p>
                    <a:p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diwarisi</a:t>
                      </a:r>
                      <a:r>
                        <a:rPr lang="en-US" dirty="0"/>
                        <a:t> oleh subclass-</a:t>
                      </a:r>
                      <a:r>
                        <a:rPr lang="en-US" dirty="0" err="1"/>
                        <a:t>nya</a:t>
                      </a:r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185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43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5FCD8E9-4DCA-9941-FB11-660BB1B3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9D5B7E79-C88C-BA62-043A-08E3EC20E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Access Modifier (in Java)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249304FF-F8E4-7FC9-6C10-EC68BAEA0B9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238289AE-758F-6C47-1604-6BC0000232E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AECA0F1-216D-2FB9-76D4-33D2144C3CCC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5DD46F46-499A-DD19-8F9D-91E4896B44A8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AFC4D8E3-5951-59F7-260A-AAE4288E1B2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37CCC14C-F16C-31F3-AB12-421664A56572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4D1E98E-D65C-D940-B5CF-00602F25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67" y="1419789"/>
            <a:ext cx="7839350" cy="271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7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25088" y="2636965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Keyword “super”</a:t>
            </a:r>
            <a:endParaRPr sz="36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55057" y="2121011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02</a:t>
            </a:r>
            <a:endParaRPr sz="4800"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782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Keyword “super”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Keyword “super”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merujuk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di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diwariskan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kepada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superclass: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Courier New" panose="02070309020205020404" pitchFamily="49" charset="0"/>
                <a:ea typeface="Lato"/>
                <a:cs typeface="Courier New" panose="02070309020205020404" pitchFamily="49" charset="0"/>
              </a:rPr>
              <a:t>super()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no-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arg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Courier New" panose="02070309020205020404" pitchFamily="49" charset="0"/>
                <a:ea typeface="Lato"/>
                <a:cs typeface="Courier New" panose="02070309020205020404" pitchFamily="49" charset="0"/>
                <a:sym typeface="Wingdings" panose="05000000000000000000" pitchFamily="2" charset="2"/>
              </a:rPr>
              <a:t>super(argument)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argument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bersesuaian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Pemanggilan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dituliskan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pada baris paling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awal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subclass.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037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71C5B4FE-0D2A-7B45-510C-2C79E175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C9EE43B3-6A11-5BFD-D3FC-E94359F75B9F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AA51C79-09BF-C007-AD05-86802B4CD871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C8BA57E-218D-8AFB-DBDF-D86957B170A6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864C02BA-A384-216E-1CFC-9EA9CCB4CDE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7205570C-25BA-8BE3-DABB-9116963CECD6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66ACFE-15AB-A530-9F06-8850782D6C62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788595-0B60-A1C5-B71F-ACECB36AA7B2}"/>
              </a:ext>
            </a:extLst>
          </p:cNvPr>
          <p:cNvSpPr txBox="1"/>
          <p:nvPr/>
        </p:nvSpPr>
        <p:spPr>
          <a:xfrm>
            <a:off x="1064310" y="282483"/>
            <a:ext cx="618054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atribut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private String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private String border;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//constructor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BangunDatar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w, String b){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w;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border = b;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//method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setWarna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w){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w;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String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getWarna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warna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setBorder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(String b){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    border = b;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1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76433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Keyword “super”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621010C-E31F-BB0B-858C-161F096CC21F}"/>
              </a:ext>
            </a:extLst>
          </p:cNvPr>
          <p:cNvSpPr txBox="1"/>
          <p:nvPr/>
        </p:nvSpPr>
        <p:spPr>
          <a:xfrm>
            <a:off x="844061" y="1402199"/>
            <a:ext cx="6377354" cy="1323439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BujurSangkar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s, String w, String b){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sisi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setWarna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(w);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setBorder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(b);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AA667-BB38-92A2-5008-03976FE31086}"/>
              </a:ext>
            </a:extLst>
          </p:cNvPr>
          <p:cNvSpPr txBox="1"/>
          <p:nvPr/>
        </p:nvSpPr>
        <p:spPr>
          <a:xfrm>
            <a:off x="844060" y="3621257"/>
            <a:ext cx="6494585" cy="1077218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BujurSangkar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s, String w, String b){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</a:t>
            </a:r>
            <a:r>
              <a:rPr lang="en-ID" sz="1600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w,b</a:t>
            </a:r>
            <a:r>
              <a:rPr lang="en-ID" sz="16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sisi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11CCD09E-91C6-024F-36A3-37BBC864964F}"/>
              </a:ext>
            </a:extLst>
          </p:cNvPr>
          <p:cNvSpPr/>
          <p:nvPr/>
        </p:nvSpPr>
        <p:spPr>
          <a:xfrm>
            <a:off x="3892061" y="2933124"/>
            <a:ext cx="281354" cy="4806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9540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Constructor Chaining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Jika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dipanggil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secara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eksplisit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di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compiler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otomatis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menjadikan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b="1" dirty="0">
                <a:solidFill>
                  <a:schemeClr val="accent4"/>
                </a:solidFill>
                <a:latin typeface="Courier New" panose="02070309020205020404" pitchFamily="49" charset="0"/>
                <a:ea typeface="Lato"/>
                <a:cs typeface="Courier New" panose="02070309020205020404" pitchFamily="49" charset="0"/>
              </a:rPr>
              <a:t>super()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sebagai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first statement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F9354D9-6D8F-F541-BE6C-113E8D77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25" y="2364398"/>
            <a:ext cx="57626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89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Constructor Chaining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instance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diciptakan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konstruktor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superclass-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dipanggil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secara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berurutan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sesuai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urutan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hirarki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pewarisan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EC1E718-847C-3BC8-83B2-A86EA482E74A}"/>
              </a:ext>
            </a:extLst>
          </p:cNvPr>
          <p:cNvSpPr txBox="1"/>
          <p:nvPr/>
        </p:nvSpPr>
        <p:spPr>
          <a:xfrm>
            <a:off x="3798271" y="3435137"/>
            <a:ext cx="15240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CD019-2DC6-B079-9B27-74C77CD43028}"/>
              </a:ext>
            </a:extLst>
          </p:cNvPr>
          <p:cNvSpPr txBox="1"/>
          <p:nvPr/>
        </p:nvSpPr>
        <p:spPr>
          <a:xfrm>
            <a:off x="3470026" y="4450045"/>
            <a:ext cx="2145322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Permanent Employee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654DE79-00C6-1070-8249-15710D0742BA}"/>
              </a:ext>
            </a:extLst>
          </p:cNvPr>
          <p:cNvSpPr/>
          <p:nvPr/>
        </p:nvSpPr>
        <p:spPr>
          <a:xfrm>
            <a:off x="4407871" y="3765987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B66324-58BB-65DB-3FEF-8DBBACC14958}"/>
              </a:ext>
            </a:extLst>
          </p:cNvPr>
          <p:cNvCxnSpPr>
            <a:cxnSpLocks/>
          </p:cNvCxnSpPr>
          <p:nvPr/>
        </p:nvCxnSpPr>
        <p:spPr>
          <a:xfrm>
            <a:off x="4560271" y="3985424"/>
            <a:ext cx="0" cy="464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A7AAF3-C81A-0FDB-7DEF-4A9425217F30}"/>
              </a:ext>
            </a:extLst>
          </p:cNvPr>
          <p:cNvSpPr txBox="1"/>
          <p:nvPr/>
        </p:nvSpPr>
        <p:spPr>
          <a:xfrm>
            <a:off x="3798271" y="2421620"/>
            <a:ext cx="15240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Person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670052A-02BE-3C17-4A74-463D66C82983}"/>
              </a:ext>
            </a:extLst>
          </p:cNvPr>
          <p:cNvSpPr/>
          <p:nvPr/>
        </p:nvSpPr>
        <p:spPr>
          <a:xfrm>
            <a:off x="4407871" y="2752470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9D4B1E-E841-843F-F4C2-50568027622E}"/>
              </a:ext>
            </a:extLst>
          </p:cNvPr>
          <p:cNvCxnSpPr>
            <a:cxnSpLocks/>
          </p:cNvCxnSpPr>
          <p:nvPr/>
        </p:nvCxnSpPr>
        <p:spPr>
          <a:xfrm>
            <a:off x="4560271" y="2971907"/>
            <a:ext cx="0" cy="464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11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Constructor Chaining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D3854DC-2435-9B18-07B9-917D7A46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879" y="1049891"/>
            <a:ext cx="5487166" cy="3648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81FD78-10D4-E2AF-0717-24B65773D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58" y="3653532"/>
            <a:ext cx="2410161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2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Constructor Chaining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Sebaiknya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kita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menyediakan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no-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arg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constructor pada class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diwariskan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Perhatikan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berikut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–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masalahnya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???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Design guide: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sebaiknya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sediakan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no-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arg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constructor pada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setiap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menghindari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masalah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tersebut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diwariskan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4B2C06C-B94B-66E9-4751-10FBED903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04" y="2439131"/>
            <a:ext cx="51435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65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Calling Superclass Method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Memanggil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keyword super:</a:t>
            </a:r>
          </a:p>
          <a:p>
            <a:pPr marL="446088">
              <a:spcAft>
                <a:spcPts val="600"/>
              </a:spcAft>
            </a:pPr>
            <a:r>
              <a:rPr lang="en-US" sz="1800" b="1" dirty="0" err="1">
                <a:solidFill>
                  <a:schemeClr val="accent4"/>
                </a:solidFill>
                <a:latin typeface="Courier New" panose="02070309020205020404" pitchFamily="49" charset="0"/>
                <a:ea typeface="Lato"/>
                <a:cs typeface="Courier New" panose="02070309020205020404" pitchFamily="49" charset="0"/>
                <a:sym typeface="Wingdings" panose="05000000000000000000" pitchFamily="2" charset="2"/>
              </a:rPr>
              <a:t>super.method</a:t>
            </a:r>
            <a:r>
              <a:rPr lang="en-US" sz="1800" b="1" dirty="0">
                <a:solidFill>
                  <a:schemeClr val="accent4"/>
                </a:solidFill>
                <a:latin typeface="Courier New" panose="02070309020205020404" pitchFamily="49" charset="0"/>
                <a:ea typeface="Lato"/>
                <a:cs typeface="Courier New" panose="02070309020205020404" pitchFamily="49" charset="0"/>
                <a:sym typeface="Wingdings" panose="05000000000000000000" pitchFamily="2" charset="2"/>
              </a:rPr>
              <a:t>(parameters);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DD31537-F680-6398-F343-9A468F12D247}"/>
              </a:ext>
            </a:extLst>
          </p:cNvPr>
          <p:cNvSpPr txBox="1"/>
          <p:nvPr/>
        </p:nvSpPr>
        <p:spPr>
          <a:xfrm>
            <a:off x="1219199" y="2366738"/>
            <a:ext cx="63070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BujurSangkar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s, String w, String b){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sisi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s;</a:t>
            </a:r>
          </a:p>
          <a:p>
            <a:r>
              <a:rPr lang="en-ID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super.setBorder</a:t>
            </a:r>
            <a:r>
              <a:rPr lang="en-ID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(b);</a:t>
            </a:r>
          </a:p>
          <a:p>
            <a:r>
              <a:rPr lang="en-ID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D" sz="16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super.setWarna</a:t>
            </a:r>
            <a:r>
              <a:rPr lang="en-ID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(w);</a:t>
            </a:r>
          </a:p>
          <a:p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5582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2A560152-0BA6-BE1B-183B-31F2D180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CBCB683-FE53-178B-F320-095252B9AB5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3FEC8694-940B-4DA4-7166-579C87F64C01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4F195C19-3A6A-4C79-ABAD-11BCD6E72AE5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0BC0132F-C95C-D870-1560-85F83C88761F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30A6944E-2937-BB07-9B34-61DF8BD13A8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D3E8A22-B00C-6238-A5EA-B2858E9B2F65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D9AA621-D6A7-A1F4-2B7A-47C5D87F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8A966-27D0-7272-C7B3-02A269F7D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6" y="726360"/>
            <a:ext cx="7946408" cy="369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0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25088" y="2636965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Overriding Method</a:t>
            </a:r>
            <a:endParaRPr sz="36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55057" y="2121011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03</a:t>
            </a:r>
            <a:endParaRPr sz="4800"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9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Overriding Method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Overriding 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mendefinisikan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ulang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ada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di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Method yang di-override di subclass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mempunyai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signature dan return type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di superclass-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Overriding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mempengaruhi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perilaku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di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8779C7-6EAB-3E21-3B06-F847F28E1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646"/>
              </p:ext>
            </p:extLst>
          </p:nvPr>
        </p:nvGraphicFramePr>
        <p:xfrm>
          <a:off x="3726471" y="3047572"/>
          <a:ext cx="1600200" cy="556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BangunDatar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  <a:r>
                        <a:rPr lang="en-US" sz="1100" dirty="0" err="1"/>
                        <a:t>printInfo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A82C75-EAA8-2917-DCFF-A844A0D18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699490"/>
              </p:ext>
            </p:extLst>
          </p:nvPr>
        </p:nvGraphicFramePr>
        <p:xfrm>
          <a:off x="2812071" y="4247722"/>
          <a:ext cx="1600200" cy="556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BujurSangkar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  <a:r>
                        <a:rPr lang="en-US" sz="1100" dirty="0" err="1"/>
                        <a:t>printInfo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CFC3DF-3A29-CE34-BD84-5FEDA8BB8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47463"/>
              </p:ext>
            </p:extLst>
          </p:nvPr>
        </p:nvGraphicFramePr>
        <p:xfrm>
          <a:off x="4755171" y="4247722"/>
          <a:ext cx="1600200" cy="556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Lingkaran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  <a:r>
                        <a:rPr lang="en-US" sz="1100" dirty="0" err="1"/>
                        <a:t>printInfo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7673D5A-BF4C-27AC-4BD5-F311D917299C}"/>
              </a:ext>
            </a:extLst>
          </p:cNvPr>
          <p:cNvSpPr/>
          <p:nvPr/>
        </p:nvSpPr>
        <p:spPr>
          <a:xfrm>
            <a:off x="4869471" y="3619072"/>
            <a:ext cx="228600" cy="17145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14650D-319F-8756-5FFA-12F8D5F190B5}"/>
              </a:ext>
            </a:extLst>
          </p:cNvPr>
          <p:cNvCxnSpPr>
            <a:stCxn id="5" idx="3"/>
          </p:cNvCxnSpPr>
          <p:nvPr/>
        </p:nvCxnSpPr>
        <p:spPr>
          <a:xfrm rot="5400000">
            <a:off x="4755171" y="4019122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02E6C54-3DDD-CA17-787C-4816B3B8262F}"/>
              </a:ext>
            </a:extLst>
          </p:cNvPr>
          <p:cNvSpPr/>
          <p:nvPr/>
        </p:nvSpPr>
        <p:spPr>
          <a:xfrm>
            <a:off x="4126521" y="3619072"/>
            <a:ext cx="228600" cy="17145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019DF-A7D3-E697-62C8-6809526B245B}"/>
              </a:ext>
            </a:extLst>
          </p:cNvPr>
          <p:cNvCxnSpPr>
            <a:stCxn id="7" idx="3"/>
          </p:cNvCxnSpPr>
          <p:nvPr/>
        </p:nvCxnSpPr>
        <p:spPr>
          <a:xfrm rot="5400000">
            <a:off x="4012221" y="4019122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77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Overriding Method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8FEED8F-06D1-600A-1250-716956787AA6}"/>
              </a:ext>
            </a:extLst>
          </p:cNvPr>
          <p:cNvSpPr txBox="1"/>
          <p:nvPr/>
        </p:nvSpPr>
        <p:spPr>
          <a:xfrm>
            <a:off x="673273" y="1291040"/>
            <a:ext cx="3852000" cy="2893100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dirty="0"/>
              <a:t>public class </a:t>
            </a:r>
            <a:r>
              <a:rPr lang="en-ID" dirty="0" err="1"/>
              <a:t>BangunDatar</a:t>
            </a:r>
            <a:r>
              <a:rPr lang="en-ID" dirty="0"/>
              <a:t> {</a:t>
            </a:r>
          </a:p>
          <a:p>
            <a:r>
              <a:rPr lang="en-ID" dirty="0"/>
              <a:t>    //</a:t>
            </a:r>
            <a:r>
              <a:rPr lang="en-ID" dirty="0" err="1"/>
              <a:t>atribut</a:t>
            </a:r>
            <a:endParaRPr lang="en-ID" dirty="0"/>
          </a:p>
          <a:p>
            <a:r>
              <a:rPr lang="en-ID" dirty="0"/>
              <a:t>    private String </a:t>
            </a:r>
            <a:r>
              <a:rPr lang="en-ID" dirty="0" err="1"/>
              <a:t>warna</a:t>
            </a:r>
            <a:r>
              <a:rPr lang="en-ID" dirty="0"/>
              <a:t>;</a:t>
            </a:r>
          </a:p>
          <a:p>
            <a:r>
              <a:rPr lang="en-ID" dirty="0"/>
              <a:t>    private String border;</a:t>
            </a:r>
          </a:p>
          <a:p>
            <a:r>
              <a:rPr lang="en-ID" dirty="0"/>
              <a:t>    </a:t>
            </a:r>
          </a:p>
          <a:p>
            <a:r>
              <a:rPr lang="en-ID" dirty="0"/>
              <a:t>    </a:t>
            </a:r>
          </a:p>
          <a:p>
            <a:r>
              <a:rPr lang="en-ID" dirty="0"/>
              <a:t>    //method</a:t>
            </a:r>
          </a:p>
          <a:p>
            <a:r>
              <a:rPr lang="en-ID" dirty="0"/>
              <a:t>    </a:t>
            </a:r>
            <a:r>
              <a:rPr lang="en-ID" b="1" dirty="0">
                <a:solidFill>
                  <a:schemeClr val="accent4"/>
                </a:solidFill>
              </a:rPr>
              <a:t>public void </a:t>
            </a:r>
            <a:r>
              <a:rPr lang="en-ID" b="1" dirty="0" err="1">
                <a:solidFill>
                  <a:schemeClr val="accent4"/>
                </a:solidFill>
              </a:rPr>
              <a:t>printInfo</a:t>
            </a:r>
            <a:r>
              <a:rPr lang="en-ID" b="1" dirty="0">
                <a:solidFill>
                  <a:schemeClr val="accent4"/>
                </a:solidFill>
              </a:rPr>
              <a:t>()</a:t>
            </a:r>
            <a:r>
              <a:rPr lang="en-ID" dirty="0"/>
              <a:t>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</a:t>
            </a:r>
            <a:r>
              <a:rPr lang="en-ID" dirty="0" err="1"/>
              <a:t>Warna</a:t>
            </a:r>
            <a:r>
              <a:rPr lang="en-ID" dirty="0"/>
              <a:t> : " + </a:t>
            </a:r>
            <a:r>
              <a:rPr lang="en-ID" dirty="0" err="1"/>
              <a:t>warna</a:t>
            </a:r>
            <a:r>
              <a:rPr lang="en-ID" dirty="0"/>
              <a:t>);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("Border : " + border);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r>
              <a:rPr lang="en-ID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66360-2EED-528B-C54C-5EDA0E8CB569}"/>
              </a:ext>
            </a:extLst>
          </p:cNvPr>
          <p:cNvSpPr txBox="1"/>
          <p:nvPr/>
        </p:nvSpPr>
        <p:spPr>
          <a:xfrm>
            <a:off x="4724400" y="1305686"/>
            <a:ext cx="3505199" cy="2677656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dirty="0"/>
              <a:t>public class </a:t>
            </a:r>
            <a:r>
              <a:rPr lang="en-ID" dirty="0" err="1"/>
              <a:t>BujurSangkar</a:t>
            </a:r>
            <a:r>
              <a:rPr lang="en-ID" dirty="0"/>
              <a:t> </a:t>
            </a:r>
            <a:r>
              <a:rPr lang="en-ID" b="1" dirty="0">
                <a:solidFill>
                  <a:schemeClr val="accent4"/>
                </a:solidFill>
              </a:rPr>
              <a:t>extends</a:t>
            </a:r>
            <a:r>
              <a:rPr lang="en-ID" dirty="0"/>
              <a:t> </a:t>
            </a:r>
            <a:r>
              <a:rPr lang="en-ID" dirty="0" err="1"/>
              <a:t>BangunDatar</a:t>
            </a:r>
            <a:r>
              <a:rPr lang="en-ID" dirty="0"/>
              <a:t> {</a:t>
            </a:r>
          </a:p>
          <a:p>
            <a:r>
              <a:rPr lang="en-ID" dirty="0"/>
              <a:t>    //</a:t>
            </a:r>
            <a:r>
              <a:rPr lang="en-ID" dirty="0" err="1"/>
              <a:t>atribut</a:t>
            </a:r>
            <a:endParaRPr lang="en-ID" dirty="0"/>
          </a:p>
          <a:p>
            <a:r>
              <a:rPr lang="en-ID" dirty="0"/>
              <a:t>    private double </a:t>
            </a:r>
            <a:r>
              <a:rPr lang="en-ID" dirty="0" err="1"/>
              <a:t>sisi</a:t>
            </a:r>
            <a:r>
              <a:rPr lang="en-ID" dirty="0"/>
              <a:t>;</a:t>
            </a:r>
          </a:p>
          <a:p>
            <a:r>
              <a:rPr lang="en-ID" dirty="0"/>
              <a:t>    </a:t>
            </a:r>
          </a:p>
          <a:p>
            <a:r>
              <a:rPr lang="en-ID" dirty="0"/>
              <a:t>    </a:t>
            </a:r>
          </a:p>
          <a:p>
            <a:r>
              <a:rPr lang="en-ID" dirty="0"/>
              <a:t>    //method</a:t>
            </a:r>
          </a:p>
          <a:p>
            <a:r>
              <a:rPr lang="en-ID" dirty="0"/>
              <a:t>    </a:t>
            </a:r>
            <a:r>
              <a:rPr lang="en-ID" b="1" dirty="0">
                <a:solidFill>
                  <a:schemeClr val="accent4"/>
                </a:solidFill>
              </a:rPr>
              <a:t>public void </a:t>
            </a:r>
            <a:r>
              <a:rPr lang="en-ID" b="1" dirty="0" err="1">
                <a:solidFill>
                  <a:schemeClr val="accent4"/>
                </a:solidFill>
              </a:rPr>
              <a:t>printInfo</a:t>
            </a:r>
            <a:r>
              <a:rPr lang="en-ID" b="1" dirty="0">
                <a:solidFill>
                  <a:schemeClr val="accent4"/>
                </a:solidFill>
              </a:rPr>
              <a:t>()</a:t>
            </a:r>
            <a:r>
              <a:rPr lang="en-ID" dirty="0"/>
              <a:t>{</a:t>
            </a:r>
          </a:p>
          <a:p>
            <a:r>
              <a:rPr lang="en-ID" dirty="0"/>
              <a:t>        </a:t>
            </a:r>
            <a:r>
              <a:rPr lang="en-ID" dirty="0" err="1"/>
              <a:t>super.printInfo</a:t>
            </a:r>
            <a:r>
              <a:rPr lang="en-ID" dirty="0"/>
              <a:t>();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</a:t>
            </a:r>
            <a:r>
              <a:rPr lang="en-ID" dirty="0" err="1"/>
              <a:t>sisi</a:t>
            </a:r>
            <a:r>
              <a:rPr lang="en-ID" dirty="0"/>
              <a:t> : " + </a:t>
            </a:r>
            <a:r>
              <a:rPr lang="en-ID" dirty="0" err="1"/>
              <a:t>sisi</a:t>
            </a:r>
            <a:r>
              <a:rPr lang="en-ID" dirty="0"/>
              <a:t>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3572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A1622DF-70CE-8401-D383-28E27F6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4C68278A-8DFA-5B14-EDAA-7189D2F14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Overriding Method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34A71FE-7824-0458-4DAD-F64B9863D316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Private method di superclass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di-overriding di subclass.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Static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diwariskan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tetapi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di-overriding.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7F6D9BF1-764C-A9BF-F66A-0117639766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BC620C2-A5B9-D2E3-3295-A75BFF8610B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4FD89EC-7F8B-D693-3F67-BA2443AEE6D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2C02920-B434-EFFA-DFF3-7A66F3FB14D6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0F9C52-6536-4106-2781-9BD77321CAF9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88E3059-1BA7-3109-E2EE-CC7E906C0800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3291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D4E5D5B-459F-325A-7544-63D882E7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B34860E4-17EA-9D09-B930-841F61CF0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Review …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A67881-11BB-E7AB-C725-63CBF35AB00E}"/>
              </a:ext>
            </a:extLst>
          </p:cNvPr>
          <p:cNvSpPr txBox="1"/>
          <p:nvPr/>
        </p:nvSpPr>
        <p:spPr>
          <a:xfrm>
            <a:off x="720000" y="1204554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True or false? You can override a private method defined in a superclass.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True or false? You can override a static method defined in a superclass.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How do you explicitly invoke a superclass’s constructor from a subclass?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How do you invoke an overridden superclass method from a subclass?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BBA94BA-111D-201A-F83E-031EA3C71EB4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D5A4A127-0F02-EA31-813E-10C663B93438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68CD48A7-626E-15AA-9D34-1890C4AADD48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CA34C33E-E339-54AF-0221-7B375870B73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2AB7ED3C-AF6F-5D11-432F-4BD9F658BB76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A8F1936E-51A8-B4ED-3A75-18E41A71BA48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82956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17C1E4FA-DDD4-AC6E-E01E-F76465A8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9E6AAA61-7ED0-350C-2E6E-73CFE09BEF58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34A3F16B-9E8A-5898-8228-B99E120CC578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96723E9-8CF1-2FAA-C4F4-7E4EE196017B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7B64C33F-92B1-1A1E-AD8B-185879BF8FEE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2BD1734-5A64-D8DB-BFE6-6C61C4FC5BD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409B994B-66E4-6F6D-1040-D3C41D120F92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1324A8D-990E-8BC9-21B9-D42EEE823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72" y="633434"/>
            <a:ext cx="8035505" cy="397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38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36417" y="2530740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Spesialisasi &amp; Generalisasi</a:t>
            </a:r>
            <a:endParaRPr sz="40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04</a:t>
            </a:r>
            <a:endParaRPr sz="4800" dirty="0"/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770450" y="3887150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500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Spesialisasi dan Generalisasi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Spesialisasi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Hirarki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inheritance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memungkinkan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banyak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perilaku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spesifik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daripada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Pendekatan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top-down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Generalisasi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Banyak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berperilaku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umum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Pendekatan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bottom-up.</a:t>
            </a:r>
          </a:p>
          <a:p>
            <a:pPr>
              <a:spcAft>
                <a:spcPts val="600"/>
              </a:spcAft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814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Istilah dalam Hirarki Class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ontent Placeholder 59">
            <a:extLst>
              <a:ext uri="{FF2B5EF4-FFF2-40B4-BE49-F238E27FC236}">
                <a16:creationId xmlns:a16="http://schemas.microsoft.com/office/drawing/2014/main" id="{55F39491-E055-870D-4093-5202095C6050}"/>
              </a:ext>
            </a:extLst>
          </p:cNvPr>
          <p:cNvSpPr txBox="1">
            <a:spLocks/>
          </p:cNvSpPr>
          <p:nvPr/>
        </p:nvSpPr>
        <p:spPr>
          <a:xfrm>
            <a:off x="4419600" y="1219200"/>
            <a:ext cx="4343400" cy="34792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Setiap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hirarki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disebut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 level node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disebut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Root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Semua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 pada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hirarki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dikatakan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berasal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derived from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node di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atasnya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Node di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 lain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disebut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ancestor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Siblings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node yang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 class yang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sama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 yang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keturunan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descendants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</a:t>
            </a: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Leaf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/ </a:t>
            </a:r>
            <a:r>
              <a:rPr lang="en-US" sz="1800" b="1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Terminal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D55DD-3D0E-B393-57FB-B8057F368F1C}"/>
              </a:ext>
            </a:extLst>
          </p:cNvPr>
          <p:cNvSpPr txBox="1"/>
          <p:nvPr/>
        </p:nvSpPr>
        <p:spPr>
          <a:xfrm>
            <a:off x="2508735" y="1447355"/>
            <a:ext cx="1219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6445C-0B1B-3FC1-F981-6082CF5F71B8}"/>
              </a:ext>
            </a:extLst>
          </p:cNvPr>
          <p:cNvSpPr txBox="1"/>
          <p:nvPr/>
        </p:nvSpPr>
        <p:spPr>
          <a:xfrm>
            <a:off x="3042135" y="2807287"/>
            <a:ext cx="762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AD04190-14E6-4BE8-A5B2-C00F1FD776A0}"/>
              </a:ext>
            </a:extLst>
          </p:cNvPr>
          <p:cNvSpPr/>
          <p:nvPr/>
        </p:nvSpPr>
        <p:spPr>
          <a:xfrm rot="21062633">
            <a:off x="3143553" y="1853620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52C25F-AD15-020F-89F8-79BF6C8B3313}"/>
              </a:ext>
            </a:extLst>
          </p:cNvPr>
          <p:cNvCxnSpPr>
            <a:stCxn id="5" idx="3"/>
            <a:endCxn id="4" idx="0"/>
          </p:cNvCxnSpPr>
          <p:nvPr/>
        </p:nvCxnSpPr>
        <p:spPr>
          <a:xfrm rot="16200000" flipH="1">
            <a:off x="3005211" y="2389362"/>
            <a:ext cx="726461" cy="109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2BA8F-F63D-11A6-DB2F-DBE7D1651C22}"/>
              </a:ext>
            </a:extLst>
          </p:cNvPr>
          <p:cNvSpPr txBox="1"/>
          <p:nvPr/>
        </p:nvSpPr>
        <p:spPr>
          <a:xfrm>
            <a:off x="1746735" y="2818955"/>
            <a:ext cx="838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E8C3D50-B1D0-414E-41B8-EF05CE2E4B98}"/>
              </a:ext>
            </a:extLst>
          </p:cNvPr>
          <p:cNvSpPr/>
          <p:nvPr/>
        </p:nvSpPr>
        <p:spPr>
          <a:xfrm rot="1160645">
            <a:off x="2356335" y="1816687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9606C-A1F2-67BF-D0DC-2DE874382970}"/>
              </a:ext>
            </a:extLst>
          </p:cNvPr>
          <p:cNvCxnSpPr>
            <a:stCxn id="8" idx="3"/>
            <a:endCxn id="7" idx="0"/>
          </p:cNvCxnSpPr>
          <p:nvPr/>
        </p:nvCxnSpPr>
        <p:spPr>
          <a:xfrm rot="5400000">
            <a:off x="1928295" y="2276375"/>
            <a:ext cx="780121" cy="305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ABD661-3A47-C46D-9BE3-B587F176FA30}"/>
              </a:ext>
            </a:extLst>
          </p:cNvPr>
          <p:cNvSpPr txBox="1"/>
          <p:nvPr/>
        </p:nvSpPr>
        <p:spPr>
          <a:xfrm>
            <a:off x="832335" y="3874087"/>
            <a:ext cx="685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F9B9A-24C3-45E5-5BAB-A4798FF7CE3E}"/>
              </a:ext>
            </a:extLst>
          </p:cNvPr>
          <p:cNvSpPr txBox="1"/>
          <p:nvPr/>
        </p:nvSpPr>
        <p:spPr>
          <a:xfrm>
            <a:off x="1670535" y="3874087"/>
            <a:ext cx="685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16306-A5D2-607C-A47B-8EB57E9D3813}"/>
              </a:ext>
            </a:extLst>
          </p:cNvPr>
          <p:cNvSpPr txBox="1"/>
          <p:nvPr/>
        </p:nvSpPr>
        <p:spPr>
          <a:xfrm>
            <a:off x="2508735" y="3874087"/>
            <a:ext cx="685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37B362-0762-B2D2-40C2-0D1EB1C755E3}"/>
              </a:ext>
            </a:extLst>
          </p:cNvPr>
          <p:cNvCxnSpPr>
            <a:stCxn id="14" idx="3"/>
            <a:endCxn id="10" idx="0"/>
          </p:cNvCxnSpPr>
          <p:nvPr/>
        </p:nvCxnSpPr>
        <p:spPr>
          <a:xfrm rot="5400000">
            <a:off x="1159337" y="3396385"/>
            <a:ext cx="493601" cy="461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011473C-7E82-F46A-FAD0-D60078A44833}"/>
              </a:ext>
            </a:extLst>
          </p:cNvPr>
          <p:cNvSpPr/>
          <p:nvPr/>
        </p:nvSpPr>
        <p:spPr>
          <a:xfrm rot="2311173">
            <a:off x="1555822" y="3176758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22A05B-E812-DDE7-70D8-B0FE759C14FE}"/>
              </a:ext>
            </a:extLst>
          </p:cNvPr>
          <p:cNvCxnSpPr>
            <a:stCxn id="16" idx="3"/>
            <a:endCxn id="11" idx="0"/>
          </p:cNvCxnSpPr>
          <p:nvPr/>
        </p:nvCxnSpPr>
        <p:spPr>
          <a:xfrm rot="5400000">
            <a:off x="1810424" y="3612399"/>
            <a:ext cx="464699" cy="58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F45268-1593-E0B2-357B-1DA09F91C6FC}"/>
              </a:ext>
            </a:extLst>
          </p:cNvPr>
          <p:cNvSpPr/>
          <p:nvPr/>
        </p:nvSpPr>
        <p:spPr>
          <a:xfrm rot="526733">
            <a:off x="1937156" y="3182127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480515-BCEA-E1D6-677F-62A6058B4E76}"/>
              </a:ext>
            </a:extLst>
          </p:cNvPr>
          <p:cNvCxnSpPr>
            <a:stCxn id="18" idx="3"/>
          </p:cNvCxnSpPr>
          <p:nvPr/>
        </p:nvCxnSpPr>
        <p:spPr>
          <a:xfrm rot="16200000" flipH="1">
            <a:off x="2506845" y="3491197"/>
            <a:ext cx="477064" cy="288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4C05D23-79E7-E781-AF78-F8E9B41B5F22}"/>
              </a:ext>
            </a:extLst>
          </p:cNvPr>
          <p:cNvSpPr/>
          <p:nvPr/>
        </p:nvSpPr>
        <p:spPr>
          <a:xfrm rot="19899382">
            <a:off x="2394355" y="3182126"/>
            <a:ext cx="304800" cy="228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8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32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Inheritance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dilakukan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bila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: </a:t>
            </a:r>
          </a:p>
          <a:p>
            <a:pPr marL="714375" lvl="1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Perlu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penambahan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fitur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metode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).</a:t>
            </a:r>
          </a:p>
          <a:p>
            <a:pPr marL="714375" lvl="1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Membuat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perilaku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diturunkan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berbeda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subclass.</a:t>
            </a:r>
          </a:p>
          <a:p>
            <a:pPr marL="4572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Ketentuan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lain :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perhatikan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hirarki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IS-A.</a:t>
            </a:r>
          </a:p>
          <a:p>
            <a:pPr>
              <a:spcAft>
                <a:spcPts val="600"/>
              </a:spcAft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724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Not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mengubah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semantik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maksud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/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tujuan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)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feature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diturunkan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: </a:t>
            </a:r>
          </a:p>
          <a:p>
            <a:pPr marL="53975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class Person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mencetak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info person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ke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console</a:t>
            </a: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procedure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printInfo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539750">
              <a:buNone/>
            </a:pPr>
            <a:r>
              <a:rPr lang="id-ID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class Student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Person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//semestinya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mencetak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info student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ke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console, </a:t>
            </a:r>
            <a:endParaRPr lang="id-ID" sz="1600" dirty="0">
              <a:latin typeface="Courier New" pitchFamily="49" charset="0"/>
              <a:cs typeface="Courier New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bukan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ke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printer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atau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lain</a:t>
            </a: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procedure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printInfo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Aft>
                <a:spcPts val="600"/>
              </a:spcAft>
            </a:pPr>
            <a:endParaRPr lang="en-ID" sz="1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3128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Not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menghilangkan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feature,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mengabaikannya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714375" lvl="1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menghilangkan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spirit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inheritance.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mengubah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kendali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akses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ketika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meng-override.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: </a:t>
            </a:r>
          </a:p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class Person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620713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public void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printInfo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620713">
              <a:buNone/>
            </a:pPr>
            <a:r>
              <a:rPr lang="id-ID" sz="1600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620713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620713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class Student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Person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620713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void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printInfo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{}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620713">
              <a:buNone/>
            </a:pPr>
            <a:r>
              <a:rPr lang="id-ID" sz="1600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39750">
              <a:buNone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4924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Not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mengubah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 signature.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: </a:t>
            </a:r>
          </a:p>
          <a:p>
            <a:pPr marL="53975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Person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print()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class Student 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Person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print(int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numOfCopies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975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620713">
              <a:buNone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5BC1F85-DC08-F675-FFC5-63217CB59C9B}"/>
              </a:ext>
            </a:extLst>
          </p:cNvPr>
          <p:cNvCxnSpPr/>
          <p:nvPr/>
        </p:nvCxnSpPr>
        <p:spPr>
          <a:xfrm rot="10800000" flipV="1">
            <a:off x="4715658" y="2425211"/>
            <a:ext cx="1200150" cy="628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C0BA3F-AE9F-6C9D-929D-436D64368BF9}"/>
              </a:ext>
            </a:extLst>
          </p:cNvPr>
          <p:cNvSpPr txBox="1"/>
          <p:nvPr/>
        </p:nvSpPr>
        <p:spPr>
          <a:xfrm>
            <a:off x="5230009" y="2139461"/>
            <a:ext cx="3849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print yang </a:t>
            </a:r>
            <a:r>
              <a:rPr lang="en-US" sz="16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berbeda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 class</a:t>
            </a:r>
          </a:p>
        </p:txBody>
      </p:sp>
    </p:spTree>
    <p:extLst>
      <p:ext uri="{BB962C8B-B14F-4D97-AF65-F5344CB8AC3E}">
        <p14:creationId xmlns:p14="http://schemas.microsoft.com/office/powerpoint/2010/main" val="4228032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36417" y="2530740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Jenis</a:t>
            </a:r>
            <a:br>
              <a:rPr lang="en" sz="4000" dirty="0"/>
            </a:br>
            <a:r>
              <a:rPr lang="en" sz="4000" dirty="0"/>
              <a:t>Inheritance</a:t>
            </a:r>
            <a:endParaRPr sz="40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05</a:t>
            </a:r>
            <a:endParaRPr sz="4800" dirty="0"/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770450" y="3887150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7084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Single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mewarisi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superclass.</a:t>
            </a:r>
          </a:p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9B808E9-B6DB-8A87-0575-9EE42A68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745" y="1949580"/>
            <a:ext cx="2244347" cy="229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63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Hierrarchical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Sejumlah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mewarisi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C74B82C-657B-887B-2615-85072702B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247" y="1896099"/>
            <a:ext cx="3425506" cy="221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72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Multilevel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mewarisi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subclass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mewarisi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superclass lain.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3DA61B-663E-1E55-3DE0-6143A0A13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488" y="1984629"/>
            <a:ext cx="1706173" cy="271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836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Multiple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Sebuah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subclass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mewarisi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di-support oleh Bahasa Java.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C++ dan Python support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jenis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ini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3034CF-2AD0-B8BB-E7A2-9B4277EE8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3" y="2562914"/>
            <a:ext cx="3376246" cy="196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78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Multiple Inheritance - Problems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Name collision</a:t>
            </a:r>
          </a:p>
          <a:p>
            <a:pPr marL="714375" lvl="1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Sub-class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memiliki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metode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dengan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sama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Replicated base class</a:t>
            </a:r>
          </a:p>
          <a:p>
            <a:pPr marL="714375" lvl="1" indent="-268288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Duplikasi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karena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base-class (super-class)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diturunkan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2x.</a:t>
            </a:r>
          </a:p>
          <a:p>
            <a:pPr marL="714375" lvl="1" indent="-268288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( C++ ) :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CE05B3-E844-B7FA-1818-5BCB17299698}"/>
              </a:ext>
            </a:extLst>
          </p:cNvPr>
          <p:cNvSpPr txBox="1"/>
          <p:nvPr/>
        </p:nvSpPr>
        <p:spPr>
          <a:xfrm>
            <a:off x="1427124" y="3471102"/>
            <a:ext cx="75905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buFontTx/>
              <a:buNone/>
            </a:pPr>
            <a:r>
              <a:rPr lang="en-US" sz="1600" dirty="0">
                <a:latin typeface="Courier" pitchFamily="49" charset="0"/>
              </a:rPr>
              <a:t>class Person {}</a:t>
            </a:r>
          </a:p>
          <a:p>
            <a:pPr lvl="1">
              <a:buFontTx/>
              <a:buNone/>
            </a:pPr>
            <a:r>
              <a:rPr lang="en-US" sz="1600" dirty="0">
                <a:latin typeface="Courier" pitchFamily="49" charset="0"/>
              </a:rPr>
              <a:t>class Employee: public Person {..}</a:t>
            </a:r>
          </a:p>
          <a:p>
            <a:pPr lvl="1">
              <a:buFontTx/>
              <a:buNone/>
            </a:pPr>
            <a:r>
              <a:rPr lang="en-US" sz="1600" dirty="0">
                <a:latin typeface="Courier" pitchFamily="49" charset="0"/>
              </a:rPr>
              <a:t>class Student: public Person {..}</a:t>
            </a:r>
          </a:p>
          <a:p>
            <a:pPr lvl="1">
              <a:buFontTx/>
              <a:buNone/>
            </a:pPr>
            <a:r>
              <a:rPr lang="en-US" sz="1600" dirty="0">
                <a:latin typeface="Courier" pitchFamily="49" charset="0"/>
              </a:rPr>
              <a:t>class </a:t>
            </a:r>
            <a:r>
              <a:rPr lang="en-US" sz="1600" dirty="0" err="1">
                <a:latin typeface="Courier" pitchFamily="49" charset="0"/>
              </a:rPr>
              <a:t>TeachingAssistant:public</a:t>
            </a:r>
            <a:r>
              <a:rPr lang="en-US" sz="1600" dirty="0">
                <a:latin typeface="Courier" pitchFamily="49" charset="0"/>
              </a:rPr>
              <a:t> Student, public Employee {..}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2192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Hybrid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Kombinasi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2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jenis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inheritance</a:t>
            </a:r>
          </a:p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653384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Repeated Inheritance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20713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7E8C2F-DACA-A9AA-D823-53E19033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5" y="1141906"/>
            <a:ext cx="5996727" cy="35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635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08149213-B7D7-D8C6-802F-8986BFE7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3F939860-7D0C-B353-DEF7-12EE9239E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Preventing Extending and Overriding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DE89987A-9CE2-2FCA-C6FC-07A0D4C6823F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Keyword final pada class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menjadikan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di-extend.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public final class A{ 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   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//class A </a:t>
            </a:r>
            <a:r>
              <a:rPr lang="en-US" dirty="0" err="1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di-extend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}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Keyword final pada method 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menjadikan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di-overriding.</a:t>
            </a:r>
          </a:p>
          <a:p>
            <a:pPr marL="449263">
              <a:spcAft>
                <a:spcPts val="600"/>
              </a:spcAft>
            </a:pP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public class A{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   public final void m1(){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     //method m1 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di-override di 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subclassnya</a:t>
            </a:r>
            <a:endParaRPr lang="en-US" b="1" dirty="0">
              <a:solidFill>
                <a:schemeClr val="accent4"/>
              </a:solidFill>
              <a:latin typeface="Consolas" panose="020B0609020204030204" pitchFamily="49" charset="0"/>
              <a:ea typeface="Lato"/>
              <a:cs typeface="Lato"/>
              <a:sym typeface="Wingdings" panose="05000000000000000000" pitchFamily="2" charset="2"/>
            </a:endParaRP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   } 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 }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public class B extends A{</a:t>
            </a:r>
          </a:p>
          <a:p>
            <a:pPr marL="449263"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  <a:ea typeface="Lato"/>
                <a:cs typeface="Lato"/>
                <a:sym typeface="Wingdings" panose="05000000000000000000" pitchFamily="2" charset="2"/>
              </a:rPr>
              <a:t>}</a:t>
            </a:r>
            <a:endParaRPr lang="en-US" b="1" dirty="0">
              <a:solidFill>
                <a:schemeClr val="accent4"/>
              </a:solidFill>
              <a:latin typeface="Consolas" panose="020B0609020204030204" pitchFamily="49" charset="0"/>
              <a:ea typeface="Lato"/>
              <a:cs typeface="Lato"/>
            </a:endParaRPr>
          </a:p>
          <a:p>
            <a:pPr marL="620713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16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F6A19126-EBC0-2029-6F1F-8EE338E146A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1A8797EC-D93F-2A6D-EDF9-D581B45D1CD3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C4A5FA7-D931-B79F-A60F-CC2C9CB35700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6044923E-572C-671E-9FEF-FEA5524FEB21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B4934FF0-F148-EA36-028E-61709D39ECB3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A8A97FBA-128A-C5D3-08FA-3B10BB2ABE8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77905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Inheritance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mengurangi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redundansi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kode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ubclass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lebih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singkat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karena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menurunkan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feature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Kata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kunci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“super”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bisa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pemanggilan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constructor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metode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di superclass.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Spesialisasi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generalisasi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merupakan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cara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pandang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top-down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bottom-up.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Beberapa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istilah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seperti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node, leaf, root, ancestor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dsb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menjelaskan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hirarki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Ada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hal-hal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diperhatikan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ketika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membuat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menggunakan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feature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lain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melalui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inheritance.</a:t>
            </a:r>
          </a:p>
          <a:p>
            <a:pPr marL="620713">
              <a:buNone/>
            </a:pPr>
            <a:endParaRPr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8751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653200" y="2165954"/>
            <a:ext cx="461992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accent2">
                    <a:lumMod val="75000"/>
                  </a:schemeClr>
                </a:solidFill>
              </a:rPr>
              <a:t>Review Questions</a:t>
            </a:r>
            <a:endParaRPr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11" name="Google Shape;911;p41"/>
          <p:cNvSpPr txBox="1">
            <a:spLocks noGrp="1"/>
          </p:cNvSpPr>
          <p:nvPr>
            <p:ph type="subTitle" idx="1"/>
          </p:nvPr>
        </p:nvSpPr>
        <p:spPr>
          <a:xfrm>
            <a:off x="770450" y="3887150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9601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1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Hirarki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pemrograman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berorientasi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object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dibedakan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menjadi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dua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yaitu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Struktur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objek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(“part-of”) dan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Struktur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(“is-a”). Super class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induk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sub class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anak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Benar</a:t>
            </a: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Salah</a:t>
            </a: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2459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2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Subclass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subset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superclass.</a:t>
            </a: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Benar</a:t>
            </a: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Salah</a:t>
            </a:r>
          </a:p>
          <a:p>
            <a:pPr marL="385763" indent="-385763">
              <a:lnSpc>
                <a:spcPct val="114000"/>
              </a:lnSpc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758748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3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Inheritance (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pewarisan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merupakan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wujud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hirarki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IS-A,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didalam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hirarki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sebuah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berbagi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maupun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pada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sebuah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beberapa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buah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kelas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lain.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Benar</a:t>
            </a: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Salah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lnSpc>
                <a:spcPct val="114000"/>
              </a:lnSpc>
              <a:spcAft>
                <a:spcPts val="600"/>
              </a:spcAft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8363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4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semua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&amp;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“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diwariskan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”,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&amp;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akses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‘private’ –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lah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diwariskan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Benar</a:t>
            </a: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Salah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85763" indent="-385763">
              <a:lnSpc>
                <a:spcPct val="114000"/>
              </a:lnSpc>
              <a:spcAft>
                <a:spcPts val="600"/>
              </a:spcAft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429964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5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Pernyataan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salah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berkaitan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meng- Overriding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Berguna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mendefinisikan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ulang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pada superclass.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diwariskan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diimplementasikan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berbeda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superclass.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subclass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harus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signature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di superclass.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subclass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dapat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signature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berbeda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di superclass.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72991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Soal 6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2878985" cy="9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Bagaimana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output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berikut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FC5BC1F-60A1-D21A-63D8-88F23A642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415" y="1204554"/>
            <a:ext cx="40481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852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Soal 7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169385"/>
            <a:ext cx="2878985" cy="9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Bagaimana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jika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program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berikut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dijalankan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 marL="385763" indent="-385763">
              <a:spcAft>
                <a:spcPts val="600"/>
              </a:spcAft>
              <a:buFont typeface="+mj-lt"/>
              <a:buAutoNum type="alphaUcPeriod"/>
            </a:pPr>
            <a:endParaRPr 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3171AA0-6614-1F77-D73C-55AE8676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0" y="1204554"/>
            <a:ext cx="40386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18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Referensi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3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Daniel Y. Liang,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into Java Programming Comprehensive Version 10</a:t>
            </a:r>
            <a:r>
              <a:rPr lang="en-ID" sz="2000" b="1" i="1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Edition</a:t>
            </a:r>
            <a:r>
              <a:rPr lang="en-ID" sz="20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2015, Pearson.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Inggriani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Liem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Diktat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Kuliah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ITB.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Panji Wisnu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Wirawan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Indra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Waspada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Satriyo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Adhy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2018.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Buku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Ajar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Vaskaran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Sarcar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2020. 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Interactive Object-Oriented Programming in Java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Jacquie Barker, </a:t>
            </a:r>
            <a:r>
              <a:rPr lang="en-US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Beginning Java Objects From Concept  To Code, 2nd edition</a:t>
            </a:r>
            <a:r>
              <a:rPr lang="en-US" sz="2000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45478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698457" y="1747325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611" name="Google Shape;2611;p71"/>
          <p:cNvSpPr txBox="1"/>
          <p:nvPr/>
        </p:nvSpPr>
        <p:spPr>
          <a:xfrm>
            <a:off x="713225" y="4305200"/>
            <a:ext cx="38586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71"/>
          <p:cNvGrpSpPr/>
          <p:nvPr/>
        </p:nvGrpSpPr>
        <p:grpSpPr>
          <a:xfrm>
            <a:off x="5151797" y="479071"/>
            <a:ext cx="1511971" cy="626735"/>
            <a:chOff x="3889166" y="1636096"/>
            <a:chExt cx="633844" cy="262738"/>
          </a:xfrm>
        </p:grpSpPr>
        <p:sp>
          <p:nvSpPr>
            <p:cNvPr id="2774" name="Google Shape;2774;p71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2358</Words>
  <Application>Microsoft Office PowerPoint</Application>
  <PresentationFormat>On-screen Show (16:9)</PresentationFormat>
  <Paragraphs>488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Lato</vt:lpstr>
      <vt:lpstr>Courier</vt:lpstr>
      <vt:lpstr>Wingdings</vt:lpstr>
      <vt:lpstr>Arial</vt:lpstr>
      <vt:lpstr>Poppins</vt:lpstr>
      <vt:lpstr>Courier New</vt:lpstr>
      <vt:lpstr>Consolas</vt:lpstr>
      <vt:lpstr>Brackets Lesson for Coding and Programming by Slidesgo</vt:lpstr>
      <vt:lpstr>Inheritance</vt:lpstr>
      <vt:lpstr>Outline</vt:lpstr>
      <vt:lpstr>Konsep Inheritance</vt:lpstr>
      <vt:lpstr>Inheritance</vt:lpstr>
      <vt:lpstr>PowerPoint Presentation</vt:lpstr>
      <vt:lpstr>PowerPoint Presentation</vt:lpstr>
      <vt:lpstr>PowerPoint Presentation</vt:lpstr>
      <vt:lpstr>PowerPoint Presentation</vt:lpstr>
      <vt:lpstr>Inheritance</vt:lpstr>
      <vt:lpstr>Perlu diperhatikan:</vt:lpstr>
      <vt:lpstr>Inheritance</vt:lpstr>
      <vt:lpstr>Inheritance</vt:lpstr>
      <vt:lpstr>Access Modifier (in Java)</vt:lpstr>
      <vt:lpstr>Access Modifier (in Java)</vt:lpstr>
      <vt:lpstr>Keyword “super”</vt:lpstr>
      <vt:lpstr>Keyword “super”</vt:lpstr>
      <vt:lpstr>PowerPoint Presentation</vt:lpstr>
      <vt:lpstr>Keyword “super”</vt:lpstr>
      <vt:lpstr>Constructor Chaining</vt:lpstr>
      <vt:lpstr>Constructor Chaining</vt:lpstr>
      <vt:lpstr>Constructor Chaining</vt:lpstr>
      <vt:lpstr>Constructor Chaining</vt:lpstr>
      <vt:lpstr>Calling Superclass Method</vt:lpstr>
      <vt:lpstr>PowerPoint Presentation</vt:lpstr>
      <vt:lpstr>Overriding Method</vt:lpstr>
      <vt:lpstr>Overriding Method</vt:lpstr>
      <vt:lpstr>Overriding Method</vt:lpstr>
      <vt:lpstr>Overriding Method</vt:lpstr>
      <vt:lpstr>Review …</vt:lpstr>
      <vt:lpstr>PowerPoint Presentation</vt:lpstr>
      <vt:lpstr>Spesialisasi &amp; Generalisasi</vt:lpstr>
      <vt:lpstr>Spesialisasi dan Generalisasi</vt:lpstr>
      <vt:lpstr>Istilah dalam Hirarki Class</vt:lpstr>
      <vt:lpstr>Do</vt:lpstr>
      <vt:lpstr>Do Not</vt:lpstr>
      <vt:lpstr>Do Not</vt:lpstr>
      <vt:lpstr>Do Not</vt:lpstr>
      <vt:lpstr>Jenis Inheritance</vt:lpstr>
      <vt:lpstr>Single Inheritance</vt:lpstr>
      <vt:lpstr>Hierrarchical Inheritance</vt:lpstr>
      <vt:lpstr>Multilevel Inheritance</vt:lpstr>
      <vt:lpstr>Multiple Inheritance</vt:lpstr>
      <vt:lpstr>Multiple Inheritance - Problems</vt:lpstr>
      <vt:lpstr>Hybrid Inheritance</vt:lpstr>
      <vt:lpstr>Repeated Inheritance</vt:lpstr>
      <vt:lpstr>Preventing Extending and Overriding</vt:lpstr>
      <vt:lpstr>Kesimpulan</vt:lpstr>
      <vt:lpstr>Review Questions</vt:lpstr>
      <vt:lpstr>Soal 1</vt:lpstr>
      <vt:lpstr>Soal 2</vt:lpstr>
      <vt:lpstr>Soal 3</vt:lpstr>
      <vt:lpstr>Soal 4</vt:lpstr>
      <vt:lpstr>Soal 5</vt:lpstr>
      <vt:lpstr>Soal 6</vt:lpstr>
      <vt:lpstr>Soal 7</vt:lpstr>
      <vt:lpstr>Referensi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Semester Genap 2023/2024</dc:title>
  <dc:creator>USER</dc:creator>
  <cp:lastModifiedBy>Khadijah Alaydrus</cp:lastModifiedBy>
  <cp:revision>78</cp:revision>
  <dcterms:modified xsi:type="dcterms:W3CDTF">2026-03-01T13:33:53Z</dcterms:modified>
</cp:coreProperties>
</file>