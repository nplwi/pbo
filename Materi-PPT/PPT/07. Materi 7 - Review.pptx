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3"/>
  </p:notesMasterIdLst>
  <p:sldIdLst>
    <p:sldId id="256" r:id="rId2"/>
    <p:sldId id="316" r:id="rId3"/>
    <p:sldId id="453" r:id="rId4"/>
    <p:sldId id="480" r:id="rId5"/>
    <p:sldId id="488" r:id="rId6"/>
    <p:sldId id="489" r:id="rId7"/>
    <p:sldId id="491" r:id="rId8"/>
    <p:sldId id="490" r:id="rId9"/>
    <p:sldId id="481" r:id="rId10"/>
    <p:sldId id="482" r:id="rId11"/>
    <p:sldId id="492" r:id="rId12"/>
    <p:sldId id="483" r:id="rId13"/>
    <p:sldId id="493" r:id="rId14"/>
    <p:sldId id="494" r:id="rId15"/>
    <p:sldId id="484" r:id="rId16"/>
    <p:sldId id="485" r:id="rId17"/>
    <p:sldId id="486" r:id="rId18"/>
    <p:sldId id="487" r:id="rId19"/>
    <p:sldId id="495" r:id="rId20"/>
    <p:sldId id="409" r:id="rId21"/>
    <p:sldId id="290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E60A72-F223-40E5-91F7-218DE427BF10}">
  <a:tblStyle styleId="{4FE60A72-F223-40E5-91F7-218DE427BF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6321BB-830E-4A7B-A6BF-7D3C5B3288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735" autoAdjust="0"/>
  </p:normalViewPr>
  <p:slideViewPr>
    <p:cSldViewPr snapToGrid="0">
      <p:cViewPr varScale="1">
        <p:scale>
          <a:sx n="73" d="100"/>
          <a:sy n="73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3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637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8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2A326863-21DE-40EA-23BA-594E931A8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A967D68C-14FE-79C6-49F6-B3109948C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B99DDC79-3C50-C1A9-8E1D-2F075AAB9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63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EA7425D-3D38-1093-AC88-BF0E2283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9E535C3-C92C-34B8-A0EB-43A6D92ED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37C205A9-1236-6EBF-5ED7-9EF5DB40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69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36C9ACC8-2D75-89DB-A5F2-771BBE18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21A95D05-39C2-F1F5-9AFA-F1F885AF6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ABC3F7B8-AB5F-D1CE-EEB5-373BF5355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714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4B3B49EF-DA28-AD71-72F8-F4DE8384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48965A1C-8CEF-10CE-5DE4-BC7D0DD48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D96443E4-F7D8-E1FF-1BCD-F1CBA1F3A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356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892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416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7BDB7D90-E61A-1F9B-CB9D-98F1C593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8D09F0F4-1040-6076-89E6-C18D5F529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49B1BC41-7164-CA23-2E29-3F2E33B5D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1010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6763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EC16DEB9-C87D-6996-230B-A578CF11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FFFBC707-0F83-290C-B1B1-0C0DADA9B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23603C59-DCFA-2DF6-2B17-443A8E390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267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854861EA-48B0-674C-8CE4-AB9A2448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2754EBD8-6601-3846-F635-A6FF90F68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00A57686-8C6D-C4EB-BD96-F536F5764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837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1377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4859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3195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217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340D869-8B27-7BA0-7D87-4B55045F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F4EB6FFB-72FC-23CE-C136-CC599943B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F774AC1A-8753-A141-88F2-DFFBC8E1A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825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6D516959-A891-B07E-BC76-90108762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>
            <a:extLst>
              <a:ext uri="{FF2B5EF4-FFF2-40B4-BE49-F238E27FC236}">
                <a16:creationId xmlns:a16="http://schemas.microsoft.com/office/drawing/2014/main" id="{1CED73D1-0494-A3BF-567B-BECB37F66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>
            <a:extLst>
              <a:ext uri="{FF2B5EF4-FFF2-40B4-BE49-F238E27FC236}">
                <a16:creationId xmlns:a16="http://schemas.microsoft.com/office/drawing/2014/main" id="{E6C3958E-CADE-F014-2591-41FC0A4E5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728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7" r:id="rId4"/>
    <p:sldLayoutId id="2147483678" r:id="rId5"/>
    <p:sldLayoutId id="2147483679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700561" y="2067405"/>
            <a:ext cx="4100400" cy="12763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Review</a:t>
            </a:r>
            <a:endParaRPr sz="2000" b="0" dirty="0"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 Pengampu Pemrograman Berorientasi Objek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Departemen Informatika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Universitas Diponegoro </a:t>
            </a:r>
            <a:endParaRPr dirty="0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94971"/>
            <a:ext cx="3798092" cy="3419445"/>
            <a:chOff x="4899397" y="821996"/>
            <a:chExt cx="4028951" cy="3627289"/>
          </a:xfrm>
        </p:grpSpPr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B7923AEF-75DF-B23C-8E5F-7D33FB01F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30" y="425907"/>
            <a:ext cx="801462" cy="93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Kriteria Penilaian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271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Kuis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5%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Aktivitas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Partisipatif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: 5%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Tugas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10%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Hasil Proyek +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Praktikum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40%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UTS: 20%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UAS: 20%</a:t>
            </a: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2280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Guide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Cohesion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Consistency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Encapsulation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Clarity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Completeness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Instance vs. Static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Inheritance vs. Aggregation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Abstract Class vs. Interface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spcBef>
                <a:spcPts val="0"/>
              </a:spcBef>
              <a:spcAft>
                <a:spcPts val="600"/>
              </a:spcAft>
            </a:pPr>
            <a:endParaRPr lang="e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818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Cohesion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Coherent purpose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Class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seharusnya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merepresentasikan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single entity.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Semua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operasi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harus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fit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secara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logis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mencapai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tujuan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koheren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Separate responsibility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Single entity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dengan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tanggung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jawab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yang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berbeda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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dipecah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menjadi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 yang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berbeda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spcBef>
                <a:spcPts val="0"/>
              </a:spcBef>
              <a:spcAft>
                <a:spcPts val="600"/>
              </a:spcAft>
            </a:pPr>
            <a:endParaRPr lang="en" sz="180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783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3B0411B-A683-9621-FF2E-7D5BB7CD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1E27BB19-5CA2-A3FB-6A27-87523AE88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Cohesion (lanj.)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1239ED9-5410-48AC-3F0C-A1C2A30CB39D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49263">
              <a:lnSpc>
                <a:spcPct val="108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The classes String, StringBuilder, and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StringBuffer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all deal with strings, for example, but have different responsibilities. </a:t>
            </a:r>
          </a:p>
          <a:p>
            <a:pPr marL="801688" lvl="2" indent="-352425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String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class deals with immutable strings.</a:t>
            </a:r>
          </a:p>
          <a:p>
            <a:pPr marL="801688" lvl="2" indent="-352425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StringBuilder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class is for creating mutable strings.</a:t>
            </a:r>
          </a:p>
          <a:p>
            <a:pPr marL="801688" lvl="2" indent="-352425">
              <a:lnSpc>
                <a:spcPct val="108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StringBuffer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class is similar to StringBuilder except that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StringBuffer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contains synchronized methods for updating strings.</a:t>
            </a: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endParaRPr lang="en" sz="180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216754A2-93CF-71FB-6405-F05F18E53A81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4ECF1A68-874A-77B7-8DB9-4AF139FF9C06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1BFB7420-E5C9-36F0-6E79-5BDFCE488291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1D496549-748B-77B1-8755-244C756872DC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D67D4BDA-A670-6D4C-B7FC-C8F5AD20B8BA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F114E355-4023-9828-7011-A6939C002FDF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100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858EF3A4-E211-3F70-EC17-D362FF45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6F8B9A4A-FCD8-8347-406E-89ABAFA2B8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Cohesion (lanj.)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B03A62E9-1949-96C0-1CF7-101FEE2E73CD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44500">
              <a:lnSpc>
                <a:spcPct val="108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Perhatikan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desain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Mahasiswa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berikut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endParaRPr lang="en" sz="180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3CAF073F-8F92-B930-1A53-E31C2BBC7E94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6D4D00B2-6F30-1504-EA2F-1F6D31C85334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F29CE7C2-8614-6F39-3A0D-0DA249817897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8B9164D8-236C-3FCD-023C-964ABCA64E3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1F6E782-54FA-9FE4-B07C-7C157C5A9111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D274F83F-0C6F-FAB9-6FBA-38792ACB09AC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C97F5E5A-0E7E-F706-35D9-B7B857F2D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F41E-CD8D-AD55-8DD9-9672A888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012" y="1958927"/>
            <a:ext cx="2172003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5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F3DD66E-DC7C-3D29-FF76-E4EBFE52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F6FAF72F-E168-E745-3BC9-140AAA8D8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Cohesion (lanj.)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C99EADF8-5B0F-FDBB-50C2-2AF8FF51A9EA}"/>
              </a:ext>
            </a:extLst>
          </p:cNvPr>
          <p:cNvSpPr txBox="1"/>
          <p:nvPr/>
        </p:nvSpPr>
        <p:spPr>
          <a:xfrm>
            <a:off x="720000" y="1204554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57200" indent="-457200">
              <a:lnSpc>
                <a:spcPct val="108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endParaRPr lang="en" sz="1800" dirty="0">
              <a:solidFill>
                <a:schemeClr val="bg1">
                  <a:lumMod val="1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07F0641-2A0D-167E-D60A-CA1134A1A09C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EA91711F-4A7C-3038-9BF2-BCF69ADBC66A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63B3D9F9-B24F-3911-7D24-DF5C7F192B75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1B817A29-94D2-8834-4B70-455A90B55CC9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87FEFF1-D0B2-E396-EBBB-9C1DCE76CCB5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D42F063C-B5AC-6D50-858A-15E9E26BC158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787B6E59-D3DA-92E1-3B94-6FD69C544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D8EE0-C133-E102-E716-332C78924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80" y="1906972"/>
            <a:ext cx="2172003" cy="2172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63737D-A868-421D-7EAF-C712BD455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413" y="1882716"/>
            <a:ext cx="2191056" cy="224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50914-454D-B01A-AEC0-D1A5C9641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431" y="1831136"/>
            <a:ext cx="2152950" cy="225774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BEFD366-5105-8DD5-1AF4-B0DB6E66A2D8}"/>
              </a:ext>
            </a:extLst>
          </p:cNvPr>
          <p:cNvSpPr/>
          <p:nvPr/>
        </p:nvSpPr>
        <p:spPr>
          <a:xfrm>
            <a:off x="3312543" y="2751826"/>
            <a:ext cx="448574" cy="491706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1339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6CF1E244-28FD-783D-B196-B09941D0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7D5E2874-4AAD-DA36-CC53-81635448D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Consistency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5F3A8B70-687D-E050-43B4-5E88E476AE1E}"/>
              </a:ext>
            </a:extLst>
          </p:cNvPr>
          <p:cNvSpPr txBox="1"/>
          <p:nvPr/>
        </p:nvSpPr>
        <p:spPr>
          <a:xfrm>
            <a:off x="720000" y="1029448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Ikuti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standard naming convention.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informatif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dan method.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Popular style:</a:t>
            </a:r>
          </a:p>
          <a:p>
            <a:pPr marL="100171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100171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Constructor</a:t>
            </a:r>
          </a:p>
          <a:p>
            <a:pPr marL="1001712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Method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serupa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operasi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serupa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No-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arg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contructor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Jika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sengaja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membuat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no-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arg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constructor,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dokumentasikan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alasannya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spcBef>
                <a:spcPts val="0"/>
              </a:spcBef>
              <a:spcAft>
                <a:spcPts val="600"/>
              </a:spcAft>
            </a:pPr>
            <a:endParaRPr lang="e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FAADB5B-B075-1299-9CCB-589FC3FFB84E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233C5A4C-AE1A-AE39-21DF-697DA11E5872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8A112ACD-D308-34B5-A644-43548C0ECE18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CF44F43-7495-5FF9-D15A-DE117C92C0DB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8EAFACAC-4AB3-3D54-176F-49718CB15837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BF9F5432-46AE-B43A-C001-24E3A85F5951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879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Consistency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06002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desain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Mahasiswa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dan Dosen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konsisten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dalam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suatu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sistem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akademik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lvl="0" algn="l" rtl="0">
              <a:spcBef>
                <a:spcPts val="0"/>
              </a:spcBef>
              <a:spcAft>
                <a:spcPts val="600"/>
              </a:spcAft>
            </a:pPr>
            <a:endParaRPr lang="e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41EF75-B7B0-0F6B-75C5-8600FE54B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574835"/>
              </p:ext>
            </p:extLst>
          </p:nvPr>
        </p:nvGraphicFramePr>
        <p:xfrm>
          <a:off x="2414263" y="1685032"/>
          <a:ext cx="2821577" cy="324099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758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Mahasiswa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816780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nim: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tglLahir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17554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Mahasiswa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Mahasiswa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nim:String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getNim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getNama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setNama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getTglLahir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Date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setTglLahir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tglLahir:Date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getDetail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C0A67D-8487-9D24-23FA-A7CA6F04D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10689"/>
              </p:ext>
            </p:extLst>
          </p:nvPr>
        </p:nvGraphicFramePr>
        <p:xfrm>
          <a:off x="5415051" y="1654424"/>
          <a:ext cx="2945178" cy="327160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945178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8747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Dosen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841974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NIP: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namaLengkap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Usia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180964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Dosen()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Dosen(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NIP:string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getNIP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getNama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setNama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getUsia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integer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setUsia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usia:integer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getProfil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77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Encapsulation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29448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sebaiknya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diset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private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mencegah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akses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langsung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luar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getter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jika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tersebut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readable.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Buat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setter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jika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tribute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tersebut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updateable.</a:t>
            </a: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516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42B0A92-4C5D-E90E-1E0E-8B7E3C03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8C1EA276-98AE-9353-E7A3-CC46DA1CD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Encapsulation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D846F9D0-5851-5540-81D6-5D24B28ECCE5}"/>
              </a:ext>
            </a:extLst>
          </p:cNvPr>
          <p:cNvSpPr txBox="1"/>
          <p:nvPr/>
        </p:nvSpPr>
        <p:spPr>
          <a:xfrm>
            <a:off x="720000" y="1029448"/>
            <a:ext cx="3091007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  <a:p>
            <a:pPr marL="444500">
              <a:spcAft>
                <a:spcPts val="600"/>
              </a:spcAft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Bagiamana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getter dan setter pada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desain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tersebut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?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FE98EEB9-3ADC-A6EC-3F6D-0096F8108ECA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9C89D6E8-4ACB-E3E3-DB9C-2ABD29716E01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9EAC2B57-FC32-385E-0F7D-4D6F5F34BFC5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6236F281-8213-A15B-C946-9B5378DF689F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BA710F52-6D88-0C13-FA44-B3F443AAAA80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AC592D7B-F981-1DB3-C9DD-7B384E27E419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CE2960-11EC-42E5-B83E-78B93BB10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15067"/>
              </p:ext>
            </p:extLst>
          </p:nvPr>
        </p:nvGraphicFramePr>
        <p:xfrm>
          <a:off x="4150106" y="1276955"/>
          <a:ext cx="4519748" cy="318573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519748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4372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BankAccount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950158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accountNumber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name: string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balance: real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74068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BankAccount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BankAccount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accountNumber:String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getAccountNumber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getName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string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setName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nama:string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getBalance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setBalance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53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Clarity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29448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Easy to explain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Independent properties</a:t>
            </a:r>
          </a:p>
          <a:p>
            <a:pPr marL="714375" indent="-2682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Sebaiknya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mendeklarasikan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yang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diperoleh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dari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lainnya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Independent methods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Intuitive meaning</a:t>
            </a: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1958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DEBC0114-418D-D8D9-2086-CFCB96A9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25B10C6-C9D4-E494-B67D-E496F85E5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353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Clarity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3C4CA6F1-8A07-855A-D33F-1812E2131A62}"/>
              </a:ext>
            </a:extLst>
          </p:cNvPr>
          <p:cNvSpPr txBox="1"/>
          <p:nvPr/>
        </p:nvSpPr>
        <p:spPr>
          <a:xfrm>
            <a:off x="695863" y="908061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6E106957-4120-3CC6-1E44-74D44F4B6052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5CB4F26A-EA8B-7BF9-EE9B-F9FC6688971B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2FF3F637-5224-AAFA-FE6A-78E99EB8AA08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C13D9FEA-AB41-5DAA-A1C1-96AA1C727E3D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075C35F4-C805-0154-D7BD-171DA5900D14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720B91F4-5FB3-3829-E31D-6E55C7AEDE8C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DCC55F-1A2E-09D6-80F5-F6E21A3A0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553472"/>
              </p:ext>
            </p:extLst>
          </p:nvPr>
        </p:nvGraphicFramePr>
        <p:xfrm>
          <a:off x="2321144" y="1059163"/>
          <a:ext cx="2821577" cy="378095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39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763936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23483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B8F204-40F8-4D0C-1C58-B9956EA30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696452"/>
              </p:ext>
            </p:extLst>
          </p:nvPr>
        </p:nvGraphicFramePr>
        <p:xfrm>
          <a:off x="5693040" y="1059163"/>
          <a:ext cx="2821577" cy="378095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39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763936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23483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PersegiPanjang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setPanjang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setLebar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l:real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getLuas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getKeliling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(): real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C2705334-B772-96ED-BDF2-C036430E68C0}"/>
              </a:ext>
            </a:extLst>
          </p:cNvPr>
          <p:cNvSpPr/>
          <p:nvPr/>
        </p:nvSpPr>
        <p:spPr>
          <a:xfrm>
            <a:off x="5286103" y="2571750"/>
            <a:ext cx="296091" cy="345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799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515883F6-0342-BF43-0843-DE83A1C7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5C9F88A-6092-75D5-C3EE-264001155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353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Clarity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C67DA580-9264-CD4A-D305-6F6A6B65E142}"/>
              </a:ext>
            </a:extLst>
          </p:cNvPr>
          <p:cNvSpPr txBox="1"/>
          <p:nvPr/>
        </p:nvSpPr>
        <p:spPr>
          <a:xfrm>
            <a:off x="695863" y="908061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Contoh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:</a:t>
            </a: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C4A2E34A-1E7F-A88E-6A1A-6D856D99888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607DF855-B6E7-00BF-D1D9-AF3AE68CBA6C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19A76EDB-0222-0C90-C8EF-77487296025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8899770C-05DD-BA8A-C8D3-BD994C3A28CE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B9DA4619-E38A-6F1A-B265-1EF8A95080A2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27BAD89-6009-1075-EC03-8DFB85AC9201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35C179-AEB1-EE97-4CCB-460AF48F4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053397"/>
              </p:ext>
            </p:extLst>
          </p:nvPr>
        </p:nvGraphicFramePr>
        <p:xfrm>
          <a:off x="2321144" y="1059163"/>
          <a:ext cx="2821577" cy="378095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39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Karyawan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763936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gajiBruto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pajak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gajiNetto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23483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Karyawan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2B306E-705C-52AE-8E2D-12602063C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41251"/>
              </p:ext>
            </p:extLst>
          </p:nvPr>
        </p:nvGraphicFramePr>
        <p:xfrm>
          <a:off x="5693040" y="1059163"/>
          <a:ext cx="2821577" cy="3780957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1859151658"/>
                    </a:ext>
                  </a:extLst>
                </a:gridCol>
              </a:tblGrid>
              <a:tr h="339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Karyawan</a:t>
                      </a:r>
                      <a:endParaRPr lang="en-ID" sz="18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27889"/>
                  </a:ext>
                </a:extLst>
              </a:tr>
              <a:tr h="763936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nama: real</a:t>
                      </a: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gajiBruto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: real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endParaRPr lang="en-US" sz="16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893103"/>
                  </a:ext>
                </a:extLst>
              </a:tr>
              <a:tr h="23483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Karyawan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getPajak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  <a:p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+ </a:t>
                      </a:r>
                      <a:r>
                        <a:rPr lang="en-US" sz="1600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getGajiNetto</a:t>
                      </a:r>
                      <a:r>
                        <a:rPr lang="en-US" sz="160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449751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1E962420-F4EA-B587-3917-11D06C27ADE1}"/>
              </a:ext>
            </a:extLst>
          </p:cNvPr>
          <p:cNvSpPr/>
          <p:nvPr/>
        </p:nvSpPr>
        <p:spPr>
          <a:xfrm>
            <a:off x="5286103" y="2571750"/>
            <a:ext cx="296091" cy="3456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63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Instance vs. Static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29448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Jika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bergantung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pada instance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tertentu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 instance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Jika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di-share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instance di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kelas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tersebut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 static 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static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sebaiknya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diacu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menggunakan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nama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class,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bukan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reference variable  improve readability.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Constructor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merupakan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instance member 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digunakan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mencitakan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instance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baru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Instance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meng-invoke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static.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Static method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tidak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meng-invoke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instance.</a:t>
            </a:r>
          </a:p>
          <a:p>
            <a:pPr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96029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Instance vs. Static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029448"/>
            <a:ext cx="7704000" cy="368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Jangan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melewatkan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parameter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constructor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untuk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inisialisasi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atribut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static 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gunakan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method static.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EEA107C-8D3D-C471-0C9C-852D684CB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83" y="2133669"/>
            <a:ext cx="612457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9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Inheritance vs. Aggregation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312984"/>
            <a:ext cx="7704000" cy="339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Inheritance: is-a relationship (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umum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ke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khusus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)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Aggregation: has-a / part-of relationship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  <a:sym typeface="Wingdings" panose="05000000000000000000" pitchFamily="2" charset="2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A7EADB4-A14A-A8E5-389B-4365A5D4D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73"/>
          <a:stretch>
            <a:fillRect/>
          </a:stretch>
        </p:blipFill>
        <p:spPr>
          <a:xfrm>
            <a:off x="1150553" y="2460148"/>
            <a:ext cx="3186143" cy="1891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388D8-0247-E4AD-011D-4D67057C3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117" y="2802433"/>
            <a:ext cx="3728883" cy="1207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DD562E-C868-1B0A-C4CB-FF3A8B635F1C}"/>
              </a:ext>
            </a:extLst>
          </p:cNvPr>
          <p:cNvSpPr txBox="1"/>
          <p:nvPr/>
        </p:nvSpPr>
        <p:spPr>
          <a:xfrm>
            <a:off x="2290355" y="4452618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inheritance</a:t>
            </a:r>
            <a:endParaRPr lang="en-ID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5F731-4B7C-60BC-9CDC-18FB018E2870}"/>
              </a:ext>
            </a:extLst>
          </p:cNvPr>
          <p:cNvSpPr txBox="1"/>
          <p:nvPr/>
        </p:nvSpPr>
        <p:spPr>
          <a:xfrm>
            <a:off x="6143898" y="4351995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agregation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4589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 Class vs. Interface</a:t>
            </a:r>
            <a:endParaRPr dirty="0"/>
          </a:p>
        </p:txBody>
      </p:sp>
      <p:sp>
        <p:nvSpPr>
          <p:cNvPr id="664" name="Google Shape;664;p38"/>
          <p:cNvSpPr txBox="1"/>
          <p:nvPr/>
        </p:nvSpPr>
        <p:spPr>
          <a:xfrm>
            <a:off x="720000" y="1181108"/>
            <a:ext cx="7704000" cy="352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Abstract class: strong is-a relationship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Interface: weak is-a relationship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Sebuah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hanya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satu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Sebuah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class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dapat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mewarisi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satu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atau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lebih</a:t>
            </a:r>
            <a:r>
              <a:rPr lang="en-US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Wingdings" panose="05000000000000000000" pitchFamily="2" charset="2"/>
              </a:rPr>
              <a:t> interface.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1411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4BBF2213-418B-F854-D912-EC22F79E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5588F5C5-958F-EA15-8629-8B2C71217D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33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 Class vs. Interface</a:t>
            </a:r>
            <a:endParaRPr dirty="0"/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174B9A45-D971-92BB-2D70-B7789CFC382A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33673808-FCAB-E3ED-76F3-C1F02A41B9FD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392920F6-7A93-1A75-1F2E-1BF74B8E99CE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A28BE4F7-888B-CFC1-6D17-D176B7BC6B5A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4C5D0491-D082-E09A-A085-DA8497D7883A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968AA9E0-6E11-2E98-94C0-A07BD0614D87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A4D0F94-4AFD-9160-20EC-69DB3BC8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67" y="1006002"/>
            <a:ext cx="8075121" cy="3732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0566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FFCD3E6E-8A5C-7812-C62C-41DCAAA2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>
            <a:extLst>
              <a:ext uri="{FF2B5EF4-FFF2-40B4-BE49-F238E27FC236}">
                <a16:creationId xmlns:a16="http://schemas.microsoft.com/office/drawing/2014/main" id="{A9D08037-5B04-804E-FA66-B62F744182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Referensi</a:t>
            </a:r>
            <a:endParaRPr dirty="0"/>
          </a:p>
        </p:txBody>
      </p:sp>
      <p:sp>
        <p:nvSpPr>
          <p:cNvPr id="664" name="Google Shape;664;p38">
            <a:extLst>
              <a:ext uri="{FF2B5EF4-FFF2-40B4-BE49-F238E27FC236}">
                <a16:creationId xmlns:a16="http://schemas.microsoft.com/office/drawing/2014/main" id="{AE47EF51-EE1B-A2C2-15E3-29745B224A22}"/>
              </a:ext>
            </a:extLst>
          </p:cNvPr>
          <p:cNvSpPr txBox="1"/>
          <p:nvPr/>
        </p:nvSpPr>
        <p:spPr>
          <a:xfrm>
            <a:off x="720000" y="1204553"/>
            <a:ext cx="7704000" cy="34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Daniel Y. Liang,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Introduction into Java Programming Comprehensive Version 10</a:t>
            </a:r>
            <a:r>
              <a:rPr lang="en-ID" sz="2000" b="1" i="1" baseline="30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Edition</a:t>
            </a:r>
            <a:r>
              <a:rPr lang="en-ID" sz="2000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2015, Pearson.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Inggriani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Liem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Diktat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Kuliah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ITB.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Panji Wisnu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Wirawan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Indra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Waspada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,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Satriyo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Adhy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2018.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Buku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Ajar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Pemrograman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Berorientasi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b="1" i="1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Objek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Vaskaran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ID" sz="2000" dirty="0" err="1">
                <a:solidFill>
                  <a:schemeClr val="dk1"/>
                </a:solidFill>
                <a:latin typeface="Lato"/>
                <a:ea typeface="Lato"/>
                <a:cs typeface="Lato"/>
              </a:rPr>
              <a:t>Sarcar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 2020.  </a:t>
            </a:r>
            <a:r>
              <a:rPr lang="en-ID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Interactive Object-Oriented Programming in Java</a:t>
            </a:r>
            <a:r>
              <a:rPr lang="en-ID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Jacquie Barker, </a:t>
            </a:r>
            <a:r>
              <a:rPr lang="en-US" sz="2000" b="1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Beginning Java Objects From Concept  To Code, 2nd edition</a:t>
            </a:r>
            <a:r>
              <a:rPr lang="en-US" sz="2000" i="1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.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D"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7" name="Google Shape;667;p38">
            <a:extLst>
              <a:ext uri="{FF2B5EF4-FFF2-40B4-BE49-F238E27FC236}">
                <a16:creationId xmlns:a16="http://schemas.microsoft.com/office/drawing/2014/main" id="{884CC804-2728-3FE4-3B25-F050DC5EC9FD}"/>
              </a:ext>
            </a:extLst>
          </p:cNvPr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>
              <a:extLst>
                <a:ext uri="{FF2B5EF4-FFF2-40B4-BE49-F238E27FC236}">
                  <a16:creationId xmlns:a16="http://schemas.microsoft.com/office/drawing/2014/main" id="{8C7218F5-3A20-E519-E4D2-DE4148A62439}"/>
                </a:ext>
              </a:extLst>
            </p:cNvPr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>
              <a:extLst>
                <a:ext uri="{FF2B5EF4-FFF2-40B4-BE49-F238E27FC236}">
                  <a16:creationId xmlns:a16="http://schemas.microsoft.com/office/drawing/2014/main" id="{0E7C04C2-35D5-4812-C46A-8D96EDEFF4FF}"/>
                </a:ext>
              </a:extLst>
            </p:cNvPr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>
            <a:extLst>
              <a:ext uri="{FF2B5EF4-FFF2-40B4-BE49-F238E27FC236}">
                <a16:creationId xmlns:a16="http://schemas.microsoft.com/office/drawing/2014/main" id="{F3595F48-64D1-ECA0-7B4F-0C3AF97C0AD4}"/>
              </a:ext>
            </a:extLst>
          </p:cNvPr>
          <p:cNvGrpSpPr/>
          <p:nvPr/>
        </p:nvGrpSpPr>
        <p:grpSpPr>
          <a:xfrm>
            <a:off x="239358" y="3821302"/>
            <a:ext cx="234788" cy="188409"/>
            <a:chOff x="4424582" y="1819850"/>
            <a:chExt cx="98427" cy="78984"/>
          </a:xfrm>
        </p:grpSpPr>
        <p:sp>
          <p:nvSpPr>
            <p:cNvPr id="671" name="Google Shape;671;p38">
              <a:extLst>
                <a:ext uri="{FF2B5EF4-FFF2-40B4-BE49-F238E27FC236}">
                  <a16:creationId xmlns:a16="http://schemas.microsoft.com/office/drawing/2014/main" id="{60A17395-1CC6-959B-B6EE-251D0835B62F}"/>
                </a:ext>
              </a:extLst>
            </p:cNvPr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>
              <a:extLst>
                <a:ext uri="{FF2B5EF4-FFF2-40B4-BE49-F238E27FC236}">
                  <a16:creationId xmlns:a16="http://schemas.microsoft.com/office/drawing/2014/main" id="{C8505C4B-3A2A-5B25-E800-757278B45BCD}"/>
                </a:ext>
              </a:extLst>
            </p:cNvPr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4547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698457" y="1747325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611" name="Google Shape;2611;p71"/>
          <p:cNvSpPr txBox="1"/>
          <p:nvPr/>
        </p:nvSpPr>
        <p:spPr>
          <a:xfrm>
            <a:off x="713225" y="4305200"/>
            <a:ext cx="38586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5007401" y="1298425"/>
            <a:ext cx="3956755" cy="4128030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71"/>
          <p:cNvGrpSpPr/>
          <p:nvPr/>
        </p:nvGrpSpPr>
        <p:grpSpPr>
          <a:xfrm>
            <a:off x="5151797" y="479071"/>
            <a:ext cx="1511971" cy="626735"/>
            <a:chOff x="3889166" y="1636096"/>
            <a:chExt cx="633844" cy="262738"/>
          </a:xfrm>
        </p:grpSpPr>
        <p:sp>
          <p:nvSpPr>
            <p:cNvPr id="2774" name="Google Shape;2774;p71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814</Words>
  <Application>Microsoft Office PowerPoint</Application>
  <PresentationFormat>On-screen Show (16:9)</PresentationFormat>
  <Paragraphs>172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Poppins</vt:lpstr>
      <vt:lpstr>Lato</vt:lpstr>
      <vt:lpstr>Arial</vt:lpstr>
      <vt:lpstr>Wingdings</vt:lpstr>
      <vt:lpstr>Brackets Lesson for Coding and Programming by Slidesgo</vt:lpstr>
      <vt:lpstr>Review</vt:lpstr>
      <vt:lpstr>Kriteria Penilaian</vt:lpstr>
      <vt:lpstr>Design Guide</vt:lpstr>
      <vt:lpstr>Cohesion</vt:lpstr>
      <vt:lpstr>Cohesion (lanj.)</vt:lpstr>
      <vt:lpstr>Cohesion (lanj.)</vt:lpstr>
      <vt:lpstr>Cohesion (lanj.)</vt:lpstr>
      <vt:lpstr>Consistency</vt:lpstr>
      <vt:lpstr>Consistency</vt:lpstr>
      <vt:lpstr>Encapsulation</vt:lpstr>
      <vt:lpstr>Encapsulation</vt:lpstr>
      <vt:lpstr>Clarity</vt:lpstr>
      <vt:lpstr>Clarity</vt:lpstr>
      <vt:lpstr>Clarity</vt:lpstr>
      <vt:lpstr>Instance vs. Static</vt:lpstr>
      <vt:lpstr>Instance vs. Static</vt:lpstr>
      <vt:lpstr>Inheritance vs. Aggregation</vt:lpstr>
      <vt:lpstr>Abstract Class vs. Interface</vt:lpstr>
      <vt:lpstr>Abstract Class vs. Interface</vt:lpstr>
      <vt:lpstr>Referensi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Berorientasi Objek Semester Genap 2023/2024</dc:title>
  <dc:creator>USER</dc:creator>
  <cp:lastModifiedBy>Khadijah Alaydrus</cp:lastModifiedBy>
  <cp:revision>99</cp:revision>
  <dcterms:modified xsi:type="dcterms:W3CDTF">2026-03-26T07:52:12Z</dcterms:modified>
</cp:coreProperties>
</file>